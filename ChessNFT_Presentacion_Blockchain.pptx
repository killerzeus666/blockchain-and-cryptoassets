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6255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Esta presentación explica un proyecto universitario donde usamos tecnología Blockchain para guardar partidas de ajedrez como NFTs. No necesitan conocimientos previos; explicaremos todo desde cero. La exposición durará aproximadamente 10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Blockchain es como un cuaderno compartido e imposible de alterar. Ethereum va un paso más allá: permite que ese cuaderno ejecute instrucciones automáticas llamadas contratos inteligentes. Usamos la red Sepolia, que es una red de prueba gratuita donde podemos experimentar sin gastar dinero real.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Smart Contract es como una máquina expendedora: si metes el dinero correcto, te da el producto automáticamente, sin que intervenga nadie. ERC-721 es el estándar oficial de Ethereum para crear NFTs. Cada NFT tiene un número de identificación único que lo hace imposible de duplicar. En nuestro proyecto, usamos esto para representar cada partida de ajedrez.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era triple: primero conseguir partidas reales de ajedrez; luego almacenarlas en una red de archivos descentralizada llamada IPFS; y finalmente crear un contrato inteligente en Ethereum que representara cada partida como un NFT único. Todo esto lo hicimos usando herramientas gratuitas y la red de prueba Sepolia.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Lichess es como YouTube pero para ajedrez: gratuito y con millones de partidas. Elegimos 5 partidas interesantes y las descargamos en formato PGN. PGN es como un guión de teatro para ajedrez: guarda todos los movimientos en orden, el nombre de los jugadores, la fecha, y el resultado final. Es texto plano, lo que lo hace perfecto para subirlo a la red IPFS.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IPFS es como una red de compartición de archivos donde cada archivo tiene una huella digital única llamada CID. Si alguien intenta modificar el archivo, la huella cambia y podemos detectarlo. Pinata es una herramienta que simplifica subir archivos a IPFS. Subimos los 5 PGN y obtuvimos 5 CIDs. Guardar archivos grandes directamente en blockchain sería carísimo, por eso guardamos solo el CID: una dirección pequeña que apunta al archivo real.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del proyecto. El contrato ChessNFT hereda de ERC721URIStorage, que le da todos los poderes de un NFT estándar, más la capacidad de guardar una URL por token (ahí guardaremos el CID de IPFS). Ownable garantiza que solo nosotros podemos crear NFTs. nextTokenId es un contador simple para que cada NFT tenga un número diferente. La estructura Sale guarda la información de venta de cada NFT.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contrato tiene 5 funciones principales. El constructor se ejecuta una sola vez cuando publicamos el contrato. mintGame crea un nuevo NFT y le asigna el CID de IPFS. putOnSale permite al dueño poner precio a su NFT. getSaleInfo deja consultar si un NFT está en venta sin costar gas. buyNFT es la función más compleja: transfiere automáticamente el pago y la propiedad del NFT.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desplegar el contrato usamos Remix IDE, que es como un editor de código online especializado en Solidity. Después de escribir y compilar el contrato, necesitamos MetaMask (una billetera digital como extensión del navegador) para firmar la transacción. Elegimos la red Sepolia porque es gratuita: podemos obtener ETH de prueba en sitios llamados faucets. Una vez desplegado, el contrato tiene una dirección pública y ya nadie puede modificarlo.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Minting es el proceso de crear un NFT. Ejecutamos mintGame() cinco veces, una por partida. Cada llamada recibe el enlace IPFS de esa partida. El contrato crea un NFT nuevo, le asigna el número siguiente (0, 1, 2, 3, 4), guarda el enlace IPFS en ese token, y registra al owner como propietario. Todo queda grabado permanentemente en la blockchain Sepolia.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resultados fueron totalmente exitosos. Las 5 partidas de Lichess están en IPFS y accesibles mediante sus CIDs. Los 5 NFTs fueron creados en la red Sepolia con sus respectivos identificadores del 0 al 4. El sistema de venta funciona correctamente. Y gracias a IPFS, los archivos PGN están protegidos y nadie puede modificarlos.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resume todo el flujo del proyecto. De Lichess obtenemos los PGN. Pinata nos da los CIDs de IPFS. Remix compila el contrato. MetaMask nos permite pagar las transacciones en la blockchain. Y finalmente el contrato queda en Ethereum Sepolia. Luego el ciclo de vida de cada NFT va desde el minting hasta la posible compra-venta.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proyecto nos permitió aprender de manera práctica cómo funcionan cuatro tecnologías fundamentales del ecosistema Web3: Blockchain para registros inmutables, NFTs para representar activos digitales únicos, IPFS para almacenamiento descentralizado, y Smart Contracts para automatizar reglas sin intermediarios. Todo con herramientas gratuitas y accesibles.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final. Tienen 10 minutos para preguntas. Algunas preguntas frecuentes que pueden surgir: ¿Cuánto costó desplegarlo? Nada, usamos la red de prueba Sepolia. ¿Los NFTs son reales? Existen en la blockchain pero en la red de prueba, no en la red principal. ¿Se pueden transferir? Sí, mediante la función transfer estándar de ERC-721.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57200" y="914400"/>
            <a:ext cx="8321040" cy="1005840"/>
          </a:xfrm>
          <a:prstGeom prst="rect">
            <a:avLst/>
          </a:prstGeom>
          <a:noFill/>
          <a:ln/>
        </p:spPr>
        <p:txBody>
          <a:bodyPr wrap="square" lIns="0" tIns="0" rIns="0" bIns="0" rtlCol="0" anchor="ctr"/>
          <a:lstStyle/>
          <a:p>
            <a:pPr marL="0" indent="0" algn="l">
              <a:buNone/>
            </a:pPr>
            <a:r>
              <a:rPr lang="en-US" sz="5800" b="1" dirty="0">
                <a:solidFill>
                  <a:srgbClr val="FFFFFF"/>
                </a:solidFill>
                <a:latin typeface="Georgia" pitchFamily="34" charset="0"/>
                <a:ea typeface="Georgia" pitchFamily="34" charset="-122"/>
                <a:cs typeface="Georgia" pitchFamily="34" charset="-120"/>
              </a:rPr>
              <a:t>ChessNFT</a:t>
            </a:r>
            <a:endParaRPr lang="en-US" sz="5800" dirty="0"/>
          </a:p>
        </p:txBody>
      </p:sp>
      <p:sp>
        <p:nvSpPr>
          <p:cNvPr id="4" name="Text 2"/>
          <p:cNvSpPr/>
          <p:nvPr/>
        </p:nvSpPr>
        <p:spPr>
          <a:xfrm>
            <a:off x="457200" y="1920240"/>
            <a:ext cx="6858000" cy="822960"/>
          </a:xfrm>
          <a:prstGeom prst="rect">
            <a:avLst/>
          </a:prstGeom>
          <a:noFill/>
          <a:ln/>
        </p:spPr>
        <p:txBody>
          <a:bodyPr wrap="square" lIns="0" tIns="0" rIns="0" bIns="0" rtlCol="0" anchor="ctr"/>
          <a:lstStyle/>
          <a:p>
            <a:pPr marL="0" indent="0" algn="l">
              <a:buNone/>
            </a:pPr>
            <a:r>
              <a:rPr lang="en-US" sz="1800" dirty="0">
                <a:solidFill>
                  <a:srgbClr val="00B4D8"/>
                </a:solidFill>
                <a:latin typeface="Calibri" pitchFamily="34" charset="0"/>
                <a:ea typeface="Calibri" pitchFamily="34" charset="-122"/>
                <a:cs typeface="Calibri" pitchFamily="34" charset="-120"/>
              </a:rPr>
              <a:t>Almacenando Partidas de Ajedrez como NFTs en Blockchain</a:t>
            </a:r>
            <a:endParaRPr lang="en-US" sz="1800" dirty="0"/>
          </a:p>
        </p:txBody>
      </p:sp>
      <p:sp>
        <p:nvSpPr>
          <p:cNvPr id="5" name="Shape 3"/>
          <p:cNvSpPr/>
          <p:nvPr/>
        </p:nvSpPr>
        <p:spPr>
          <a:xfrm>
            <a:off x="457200" y="2788920"/>
            <a:ext cx="5943600" cy="36576"/>
          </a:xfrm>
          <a:prstGeom prst="rect">
            <a:avLst/>
          </a:prstGeom>
          <a:solidFill>
            <a:srgbClr val="CBD5E1"/>
          </a:solidFill>
          <a:ln w="12700">
            <a:solidFill>
              <a:srgbClr val="CBD5E1"/>
            </a:solidFill>
            <a:prstDash val="solid"/>
          </a:ln>
        </p:spPr>
        <p:txBody>
          <a:bodyPr/>
          <a:lstStyle/>
          <a:p>
            <a:endParaRPr lang="en-US"/>
          </a:p>
        </p:txBody>
      </p:sp>
      <p:sp>
        <p:nvSpPr>
          <p:cNvPr id="6" name="Text 4"/>
          <p:cNvSpPr/>
          <p:nvPr/>
        </p:nvSpPr>
        <p:spPr>
          <a:xfrm>
            <a:off x="457200" y="2926080"/>
            <a:ext cx="8229600" cy="365760"/>
          </a:xfrm>
          <a:prstGeom prst="rect">
            <a:avLst/>
          </a:prstGeom>
          <a:noFill/>
          <a:ln/>
        </p:spPr>
        <p:txBody>
          <a:bodyPr wrap="square" lIns="0" tIns="0" rIns="0" bIns="0" rtlCol="0" anchor="ctr"/>
          <a:lstStyle/>
          <a:p>
            <a:pPr marL="0" indent="0" algn="l">
              <a:buNone/>
            </a:pPr>
            <a:r>
              <a:rPr lang="en-US" sz="1300" dirty="0">
                <a:solidFill>
                  <a:srgbClr val="64748B"/>
                </a:solidFill>
                <a:latin typeface="Calibri" pitchFamily="34" charset="0"/>
                <a:ea typeface="Calibri" pitchFamily="34" charset="-122"/>
                <a:cs typeface="Calibri" pitchFamily="34" charset="-120"/>
              </a:rPr>
              <a:t>Proyecto universitario de Blockchain  •  Materia: Blockchain</a:t>
            </a:r>
            <a:endParaRPr lang="en-US" sz="1300" dirty="0"/>
          </a:p>
        </p:txBody>
      </p:sp>
      <p:sp>
        <p:nvSpPr>
          <p:cNvPr id="7" name="Text 5"/>
          <p:cNvSpPr/>
          <p:nvPr/>
        </p:nvSpPr>
        <p:spPr>
          <a:xfrm>
            <a:off x="457200" y="3429000"/>
            <a:ext cx="8229600" cy="320040"/>
          </a:xfrm>
          <a:prstGeom prst="rect">
            <a:avLst/>
          </a:prstGeom>
          <a:noFill/>
          <a:ln/>
        </p:spPr>
        <p:txBody>
          <a:bodyPr wrap="square" lIns="0" tIns="0" rIns="0" bIns="0" rtlCol="0" anchor="ctr"/>
          <a:lstStyle/>
          <a:p>
            <a:pPr marL="0" indent="0" algn="l">
              <a:buNone/>
            </a:pPr>
            <a:r>
              <a:rPr lang="en-US" sz="1200" i="1" dirty="0">
                <a:solidFill>
                  <a:srgbClr val="CBD5E1"/>
                </a:solidFill>
                <a:latin typeface="Calibri" pitchFamily="34" charset="0"/>
                <a:ea typeface="Calibri" pitchFamily="34" charset="-122"/>
                <a:cs typeface="Calibri" pitchFamily="34" charset="-120"/>
              </a:rPr>
              <a:t>Katheryn Guasca</a:t>
            </a:r>
            <a:endParaRPr lang="en-US" sz="1200" i="1" dirty="0"/>
          </a:p>
        </p:txBody>
      </p:sp>
      <p:sp>
        <p:nvSpPr>
          <p:cNvPr id="8" name="Text 6"/>
          <p:cNvSpPr/>
          <p:nvPr/>
        </p:nvSpPr>
        <p:spPr>
          <a:xfrm>
            <a:off x="7315200" y="731520"/>
            <a:ext cx="1645920" cy="3200400"/>
          </a:xfrm>
          <a:prstGeom prst="rect">
            <a:avLst/>
          </a:prstGeom>
          <a:noFill/>
          <a:ln/>
        </p:spPr>
        <p:txBody>
          <a:bodyPr wrap="square" lIns="0" tIns="0" rIns="0" bIns="0" rtlCol="0" anchor="ctr"/>
          <a:lstStyle/>
          <a:p>
            <a:pPr marL="0" indent="0" algn="ctr">
              <a:buNone/>
            </a:pPr>
            <a:r>
              <a:rPr lang="en-US" sz="13000" dirty="0">
                <a:solidFill>
                  <a:srgbClr val="1A3050"/>
                </a:solidFill>
              </a:rPr>
              <a:t>♟</a:t>
            </a:r>
            <a:endParaRPr lang="en-US" sz="1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6FB"/>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0D1B2A"/>
                </a:solidFill>
                <a:latin typeface="Georgia" pitchFamily="34" charset="0"/>
                <a:ea typeface="Georgia" pitchFamily="34" charset="-122"/>
                <a:cs typeface="Georgia" pitchFamily="34" charset="-120"/>
              </a:rPr>
              <a:t>Fundamentos: ¿Qué es Blockchain y Ethereum?</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3977640" cy="374904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457200" y="1097280"/>
            <a:ext cx="3657600" cy="411480"/>
          </a:xfrm>
          <a:prstGeom prst="rect">
            <a:avLst/>
          </a:prstGeom>
          <a:noFill/>
          <a:ln/>
        </p:spPr>
        <p:txBody>
          <a:bodyPr wrap="square" lIns="0" tIns="0" rIns="0" bIns="0"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  Blockchain</a:t>
            </a:r>
            <a:endParaRPr lang="en-US" sz="1500" dirty="0"/>
          </a:p>
        </p:txBody>
      </p:sp>
      <p:sp>
        <p:nvSpPr>
          <p:cNvPr id="6" name="Text 4"/>
          <p:cNvSpPr/>
          <p:nvPr/>
        </p:nvSpPr>
        <p:spPr>
          <a:xfrm>
            <a:off x="457200" y="1554480"/>
            <a:ext cx="3657600" cy="59436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Imagina un cuaderno de contabilidad compartido por millones de personas.</a:t>
            </a: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Características clave:</a:t>
            </a:r>
            <a:endParaRPr lang="en-US" sz="1200" dirty="0"/>
          </a:p>
        </p:txBody>
      </p:sp>
      <p:sp>
        <p:nvSpPr>
          <p:cNvPr id="7" name="Text 5"/>
          <p:cNvSpPr/>
          <p:nvPr/>
        </p:nvSpPr>
        <p:spPr>
          <a:xfrm>
            <a:off x="457200" y="2194560"/>
            <a:ext cx="3657600" cy="1828800"/>
          </a:xfrm>
          <a:prstGeom prst="rect">
            <a:avLst/>
          </a:prstGeom>
          <a:noFill/>
          <a:ln/>
        </p:spPr>
        <p:txBody>
          <a:bodyPr wrap="square" lIns="50800" tIns="101600" rIns="50800" bIns="50800" rtlCol="0" anchor="t"/>
          <a:lstStyle/>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Descentralizado: no lo controla nadie</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Inmutable: lo escrito no puede borrarse</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Transparente: cualquiera puede leerlo</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Seguro: usa criptografía avanzada</a:t>
            </a:r>
            <a:endParaRPr lang="en-US" sz="1200" dirty="0"/>
          </a:p>
        </p:txBody>
      </p:sp>
      <p:sp>
        <p:nvSpPr>
          <p:cNvPr id="8" name="Shape 6"/>
          <p:cNvSpPr/>
          <p:nvPr/>
        </p:nvSpPr>
        <p:spPr>
          <a:xfrm>
            <a:off x="4572000" y="1005840"/>
            <a:ext cx="4251960" cy="374904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9" name="Text 7"/>
          <p:cNvSpPr/>
          <p:nvPr/>
        </p:nvSpPr>
        <p:spPr>
          <a:xfrm>
            <a:off x="4709160" y="1097280"/>
            <a:ext cx="3931920" cy="411480"/>
          </a:xfrm>
          <a:prstGeom prst="rect">
            <a:avLst/>
          </a:prstGeom>
          <a:noFill/>
          <a:ln/>
        </p:spPr>
        <p:txBody>
          <a:bodyPr wrap="square" lIns="0" tIns="0" rIns="0" bIns="0" rtlCol="0" anchor="ctr"/>
          <a:lstStyle/>
          <a:p>
            <a:pPr marL="0" indent="0">
              <a:buNone/>
            </a:pPr>
            <a:r>
              <a:rPr lang="en-US" sz="1500" b="1" dirty="0">
                <a:solidFill>
                  <a:srgbClr val="0077A8"/>
                </a:solidFill>
                <a:latin typeface="Georgia" pitchFamily="34" charset="0"/>
                <a:ea typeface="Georgia" pitchFamily="34" charset="-122"/>
                <a:cs typeface="Georgia" pitchFamily="34" charset="-120"/>
              </a:rPr>
              <a:t>Ξ  Ethereum</a:t>
            </a:r>
            <a:endParaRPr lang="en-US" sz="1500" dirty="0"/>
          </a:p>
        </p:txBody>
      </p:sp>
      <p:sp>
        <p:nvSpPr>
          <p:cNvPr id="10" name="Text 8"/>
          <p:cNvSpPr/>
          <p:nvPr/>
        </p:nvSpPr>
        <p:spPr>
          <a:xfrm>
            <a:off x="4709160" y="1554480"/>
            <a:ext cx="3931920" cy="59436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Es una blockchain especial que permite ejecutar </a:t>
            </a:r>
            <a:r>
              <a:rPr lang="en-US" sz="1200" b="1" dirty="0">
                <a:solidFill>
                  <a:srgbClr val="0D1B2A"/>
                </a:solidFill>
                <a:latin typeface="Calibri" pitchFamily="34" charset="0"/>
                <a:ea typeface="Calibri" pitchFamily="34" charset="-122"/>
                <a:cs typeface="Calibri" pitchFamily="34" charset="-120"/>
              </a:rPr>
              <a:t>programas</a:t>
            </a:r>
            <a:r>
              <a:rPr lang="en-US" sz="1200" dirty="0">
                <a:solidFill>
                  <a:srgbClr val="0D1B2A"/>
                </a:solidFill>
                <a:latin typeface="Calibri" pitchFamily="34" charset="0"/>
                <a:ea typeface="Calibri" pitchFamily="34" charset="-122"/>
                <a:cs typeface="Calibri" pitchFamily="34" charset="-120"/>
              </a:rPr>
              <a:t> dentro de ella.</a:t>
            </a: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Características clave:</a:t>
            </a:r>
            <a:endParaRPr lang="en-US" sz="1200" dirty="0"/>
          </a:p>
        </p:txBody>
      </p:sp>
      <p:sp>
        <p:nvSpPr>
          <p:cNvPr id="11" name="Text 9"/>
          <p:cNvSpPr/>
          <p:nvPr/>
        </p:nvSpPr>
        <p:spPr>
          <a:xfrm>
            <a:off x="4709160" y="2194560"/>
            <a:ext cx="3931920" cy="1828800"/>
          </a:xfrm>
          <a:prstGeom prst="rect">
            <a:avLst/>
          </a:prstGeom>
          <a:noFill/>
          <a:ln/>
        </p:spPr>
        <p:txBody>
          <a:bodyPr wrap="square" lIns="50800" tIns="101600" rIns="50800" bIns="50800" rtlCol="0" anchor="t"/>
          <a:lstStyle/>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Tiene su propia moneda: Ether (ETH)</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Permite crear Smart Contracts</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Funciona como una computadora mundial</a:t>
            </a:r>
            <a:endParaRPr lang="en-US" sz="1200" dirty="0"/>
          </a:p>
          <a:p>
            <a:pPr marL="342900" indent="-342900">
              <a:buSzPct val="100000"/>
              <a:buChar char="•"/>
            </a:pPr>
            <a:r>
              <a:rPr lang="en-US" sz="1200" dirty="0">
                <a:solidFill>
                  <a:srgbClr val="0D1B2A"/>
                </a:solidFill>
                <a:latin typeface="Calibri" pitchFamily="34" charset="0"/>
                <a:ea typeface="Calibri" pitchFamily="34" charset="-122"/>
                <a:cs typeface="Calibri" pitchFamily="34" charset="-120"/>
              </a:rPr>
              <a:t>Red de prueba usada: Sepolia Testnet</a:t>
            </a:r>
            <a:endParaRPr lang="en-US" sz="1200" dirty="0"/>
          </a:p>
        </p:txBody>
      </p:sp>
      <p:sp>
        <p:nvSpPr>
          <p:cNvPr id="12" name="Text 10"/>
          <p:cNvSpPr/>
          <p:nvPr/>
        </p:nvSpPr>
        <p:spPr>
          <a:xfrm>
            <a:off x="320040" y="4754880"/>
            <a:ext cx="8503920" cy="256032"/>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 Analogía: Blockchain = cuaderno; Ethereum = cuaderno que puede calcular automáticamente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Smart Contracts y NFTs (ERC-721)</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3977640" cy="352044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5" name="Text 3"/>
          <p:cNvSpPr/>
          <p:nvPr/>
        </p:nvSpPr>
        <p:spPr>
          <a:xfrm>
            <a:off x="457200" y="1097280"/>
            <a:ext cx="3657600" cy="411480"/>
          </a:xfrm>
          <a:prstGeom prst="rect">
            <a:avLst/>
          </a:prstGeom>
          <a:noFill/>
          <a:ln/>
        </p:spPr>
        <p:txBody>
          <a:bodyPr wrap="square" lIns="0" tIns="0" rIns="0" bIns="0"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  Smart Contract</a:t>
            </a:r>
            <a:endParaRPr lang="en-US" sz="1500" dirty="0"/>
          </a:p>
        </p:txBody>
      </p:sp>
      <p:sp>
        <p:nvSpPr>
          <p:cNvPr id="6" name="Text 4"/>
          <p:cNvSpPr/>
          <p:nvPr/>
        </p:nvSpPr>
        <p:spPr>
          <a:xfrm>
            <a:off x="457200" y="1572768"/>
            <a:ext cx="3566160" cy="6400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Un programa que vive dentro de la blockchain y se ejecuta solo cuando se cumplen condiciones.</a:t>
            </a:r>
            <a:endParaRPr lang="en-US" sz="1200" dirty="0"/>
          </a:p>
        </p:txBody>
      </p:sp>
      <p:sp>
        <p:nvSpPr>
          <p:cNvPr id="7" name="Text 5"/>
          <p:cNvSpPr/>
          <p:nvPr/>
        </p:nvSpPr>
        <p:spPr>
          <a:xfrm>
            <a:off x="457200" y="2286000"/>
            <a:ext cx="3566160" cy="1920240"/>
          </a:xfrm>
          <a:prstGeom prst="rect">
            <a:avLst/>
          </a:prstGeom>
          <a:noFill/>
          <a:ln/>
        </p:spPr>
        <p:txBody>
          <a:bodyPr wrap="square" lIns="50800" tIns="101600" rIns="50800" bIns="508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Sin intermediarios (banco, notario, etc.)</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Se ejecuta automáticamente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No puede ser modificado después de publicado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Escrito en lenguaje Solidity</a:t>
            </a:r>
            <a:endParaRPr lang="en-US" sz="1200" dirty="0"/>
          </a:p>
        </p:txBody>
      </p:sp>
      <p:sp>
        <p:nvSpPr>
          <p:cNvPr id="8" name="Shape 6"/>
          <p:cNvSpPr/>
          <p:nvPr/>
        </p:nvSpPr>
        <p:spPr>
          <a:xfrm>
            <a:off x="4572000" y="1005840"/>
            <a:ext cx="4251960" cy="352044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4709160" y="1097280"/>
            <a:ext cx="3931920" cy="411480"/>
          </a:xfrm>
          <a:prstGeom prst="rect">
            <a:avLst/>
          </a:prstGeom>
          <a:noFill/>
          <a:ln/>
        </p:spPr>
        <p:txBody>
          <a:bodyPr wrap="square" lIns="0" tIns="0" rIns="0" bIns="0" rtlCol="0" anchor="ctr"/>
          <a:lstStyle/>
          <a:p>
            <a:pPr marL="0" indent="0">
              <a:buNone/>
            </a:pPr>
            <a:r>
              <a:rPr lang="en-US" sz="1500" b="1" dirty="0">
                <a:solidFill>
                  <a:srgbClr val="F59E0B"/>
                </a:solidFill>
                <a:latin typeface="Georgia" pitchFamily="34" charset="0"/>
                <a:ea typeface="Georgia" pitchFamily="34" charset="-122"/>
                <a:cs typeface="Georgia" pitchFamily="34" charset="-120"/>
              </a:rPr>
              <a:t>🖼  NFT y ERC-721</a:t>
            </a:r>
            <a:endParaRPr lang="en-US" sz="1500" dirty="0"/>
          </a:p>
        </p:txBody>
      </p:sp>
      <p:sp>
        <p:nvSpPr>
          <p:cNvPr id="10" name="Text 8"/>
          <p:cNvSpPr/>
          <p:nvPr/>
        </p:nvSpPr>
        <p:spPr>
          <a:xfrm>
            <a:off x="4709160" y="1572768"/>
            <a:ext cx="393192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NFT</a:t>
            </a:r>
            <a:r>
              <a:rPr lang="en-US" sz="1200" dirty="0">
                <a:solidFill>
                  <a:srgbClr val="FFFFFF"/>
                </a:solidFill>
                <a:latin typeface="Calibri" pitchFamily="34" charset="0"/>
                <a:ea typeface="Calibri" pitchFamily="34" charset="-122"/>
                <a:cs typeface="Calibri" pitchFamily="34" charset="-120"/>
              </a:rPr>
              <a:t> = Token No Fungible = objeto digital único e irrepetible.</a:t>
            </a:r>
            <a:endParaRPr lang="en-US" sz="1200" dirty="0"/>
          </a:p>
        </p:txBody>
      </p:sp>
      <p:sp>
        <p:nvSpPr>
          <p:cNvPr id="11" name="Text 9"/>
          <p:cNvSpPr/>
          <p:nvPr/>
        </p:nvSpPr>
        <p:spPr>
          <a:xfrm>
            <a:off x="4709160" y="2121408"/>
            <a:ext cx="3931920" cy="2148840"/>
          </a:xfrm>
          <a:prstGeom prst="rect">
            <a:avLst/>
          </a:prstGeom>
          <a:noFill/>
          <a:ln/>
        </p:spPr>
        <p:txBody>
          <a:bodyPr wrap="square" lIns="50800" tIns="101600" rIns="50800" bIns="508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Cada NFT tiene un ID único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Nadie puede duplicarlo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Se puede comprar y vender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ERC-721: estándar que define las reglas de un NFT en Ethereum</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Nuestro NFT = una partida de ajedrez</a:t>
            </a:r>
            <a:endParaRPr lang="en-US" sz="1200" dirty="0"/>
          </a:p>
        </p:txBody>
      </p:sp>
      <p:sp>
        <p:nvSpPr>
          <p:cNvPr id="12" name="Shape 10"/>
          <p:cNvSpPr/>
          <p:nvPr/>
        </p:nvSpPr>
        <p:spPr>
          <a:xfrm>
            <a:off x="320040" y="4663440"/>
            <a:ext cx="8503920" cy="320040"/>
          </a:xfrm>
          <a:prstGeom prst="rect">
            <a:avLst/>
          </a:prstGeom>
          <a:solidFill>
            <a:srgbClr val="0077A8"/>
          </a:solidFill>
          <a:ln w="12700">
            <a:solidFill>
              <a:srgbClr val="0077A8"/>
            </a:solidFill>
            <a:prstDash val="solid"/>
          </a:ln>
        </p:spPr>
        <p:txBody>
          <a:bodyPr/>
          <a:lstStyle/>
          <a:p>
            <a:endParaRPr lang="en-US"/>
          </a:p>
        </p:txBody>
      </p:sp>
      <p:sp>
        <p:nvSpPr>
          <p:cNvPr id="13" name="Text 11"/>
          <p:cNvSpPr/>
          <p:nvPr/>
        </p:nvSpPr>
        <p:spPr>
          <a:xfrm>
            <a:off x="457200" y="4709160"/>
            <a:ext cx="822960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En nuestro proyecto: cada partida de ajedrez = 1 NFT único en la blockchain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6FB"/>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0D1B2A"/>
                </a:solidFill>
                <a:latin typeface="Georgia" pitchFamily="34" charset="0"/>
                <a:ea typeface="Georgia" pitchFamily="34" charset="-122"/>
                <a:cs typeface="Georgia" pitchFamily="34" charset="-120"/>
              </a:rPr>
              <a:t>Objetivo del Proyecto</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960120"/>
            <a:ext cx="8503920" cy="13716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320040" y="960120"/>
            <a:ext cx="109728" cy="1371600"/>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594360" y="1051560"/>
            <a:ext cx="8046720" cy="1143000"/>
          </a:xfrm>
          <a:prstGeom prst="rect">
            <a:avLst/>
          </a:prstGeom>
          <a:noFill/>
          <a:ln/>
        </p:spPr>
        <p:txBody>
          <a:bodyPr wrap="square" lIns="0" tIns="0" rIns="0" bIns="0" rtlCol="0" anchor="ctr"/>
          <a:lstStyle/>
          <a:p>
            <a:pPr marL="0" indent="0">
              <a:buNone/>
            </a:pPr>
            <a:r>
              <a:rPr lang="en-US" sz="1450" dirty="0">
                <a:solidFill>
                  <a:srgbClr val="0D1B2A"/>
                </a:solidFill>
                <a:latin typeface="Calibri" pitchFamily="34" charset="0"/>
                <a:ea typeface="Calibri" pitchFamily="34" charset="-122"/>
                <a:cs typeface="Calibri" pitchFamily="34" charset="-120"/>
              </a:rPr>
              <a:t>Representar partidas de ajedrez como NFTs únicos e inmutables en la blockchain de Ethereum, permitiendo su verificación, trazabilidad y posible comercialización.</a:t>
            </a:r>
            <a:endParaRPr lang="en-US" sz="1450" dirty="0"/>
          </a:p>
        </p:txBody>
      </p:sp>
      <p:sp>
        <p:nvSpPr>
          <p:cNvPr id="7" name="Shape 5"/>
          <p:cNvSpPr/>
          <p:nvPr/>
        </p:nvSpPr>
        <p:spPr>
          <a:xfrm>
            <a:off x="320040" y="2514600"/>
            <a:ext cx="2743200" cy="233172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411480" y="260604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1097280" y="2651760"/>
            <a:ext cx="1828800" cy="502920"/>
          </a:xfrm>
          <a:prstGeom prst="rect">
            <a:avLst/>
          </a:prstGeom>
          <a:noFill/>
          <a:ln/>
        </p:spPr>
        <p:txBody>
          <a:bodyPr wrap="square" lIns="0" tIns="0" rIns="0" bIns="0" rtlCol="0" anchor="ctr"/>
          <a:lstStyle/>
          <a:p>
            <a:pPr marL="0" indent="0">
              <a:buNone/>
            </a:pPr>
            <a:r>
              <a:rPr lang="en-US" sz="1300" b="1" dirty="0">
                <a:solidFill>
                  <a:srgbClr val="0077A8"/>
                </a:solidFill>
                <a:latin typeface="Georgia" pitchFamily="34" charset="0"/>
                <a:ea typeface="Georgia" pitchFamily="34" charset="-122"/>
                <a:cs typeface="Georgia" pitchFamily="34" charset="-120"/>
              </a:rPr>
              <a:t>Obtener partidas</a:t>
            </a:r>
            <a:endParaRPr lang="en-US" sz="1300" dirty="0"/>
          </a:p>
        </p:txBody>
      </p:sp>
      <p:sp>
        <p:nvSpPr>
          <p:cNvPr id="10" name="Text 8"/>
          <p:cNvSpPr/>
          <p:nvPr/>
        </p:nvSpPr>
        <p:spPr>
          <a:xfrm>
            <a:off x="411480" y="3246120"/>
            <a:ext cx="2514600" cy="1463040"/>
          </a:xfrm>
          <a:prstGeom prst="rect">
            <a:avLst/>
          </a:prstGeom>
          <a:noFill/>
          <a:ln/>
        </p:spPr>
        <p:txBody>
          <a:bodyPr wrap="square" lIns="50800" tIns="50800" rIns="50800" bIns="50800" rtlCol="0" anchor="t"/>
          <a:lstStyle/>
          <a:p>
            <a:pPr marL="0" indent="0">
              <a:buNone/>
            </a:pPr>
            <a:r>
              <a:rPr lang="en-US" sz="1200" dirty="0">
                <a:solidFill>
                  <a:srgbClr val="0D1B2A"/>
                </a:solidFill>
                <a:latin typeface="Calibri" pitchFamily="34" charset="0"/>
                <a:ea typeface="Calibri" pitchFamily="34" charset="-122"/>
                <a:cs typeface="Calibri" pitchFamily="34" charset="-120"/>
              </a:rPr>
              <a:t>Descargar 5 partidas reales desde Lichess en formato PGN</a:t>
            </a:r>
            <a:endParaRPr lang="en-US" sz="1200" dirty="0"/>
          </a:p>
        </p:txBody>
      </p:sp>
      <p:sp>
        <p:nvSpPr>
          <p:cNvPr id="11" name="Shape 9"/>
          <p:cNvSpPr/>
          <p:nvPr/>
        </p:nvSpPr>
        <p:spPr>
          <a:xfrm>
            <a:off x="3200400" y="2514600"/>
            <a:ext cx="2743200" cy="233172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12" name="Text 10"/>
          <p:cNvSpPr/>
          <p:nvPr/>
        </p:nvSpPr>
        <p:spPr>
          <a:xfrm>
            <a:off x="3291840" y="260604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3977640" y="2651760"/>
            <a:ext cx="1828800" cy="502920"/>
          </a:xfrm>
          <a:prstGeom prst="rect">
            <a:avLst/>
          </a:prstGeom>
          <a:noFill/>
          <a:ln/>
        </p:spPr>
        <p:txBody>
          <a:bodyPr wrap="square" lIns="0" tIns="0" rIns="0" bIns="0" rtlCol="0" anchor="ctr"/>
          <a:lstStyle/>
          <a:p>
            <a:pPr marL="0" indent="0">
              <a:buNone/>
            </a:pPr>
            <a:r>
              <a:rPr lang="en-US" sz="1300" b="1" dirty="0">
                <a:solidFill>
                  <a:srgbClr val="0077A8"/>
                </a:solidFill>
                <a:latin typeface="Georgia" pitchFamily="34" charset="0"/>
                <a:ea typeface="Georgia" pitchFamily="34" charset="-122"/>
                <a:cs typeface="Georgia" pitchFamily="34" charset="-120"/>
              </a:rPr>
              <a:t>Almacenar en IPFS</a:t>
            </a:r>
            <a:endParaRPr lang="en-US" sz="1300" dirty="0"/>
          </a:p>
        </p:txBody>
      </p:sp>
      <p:sp>
        <p:nvSpPr>
          <p:cNvPr id="14" name="Text 12"/>
          <p:cNvSpPr/>
          <p:nvPr/>
        </p:nvSpPr>
        <p:spPr>
          <a:xfrm>
            <a:off x="3291840" y="3246120"/>
            <a:ext cx="2514600" cy="1463040"/>
          </a:xfrm>
          <a:prstGeom prst="rect">
            <a:avLst/>
          </a:prstGeom>
          <a:noFill/>
          <a:ln/>
        </p:spPr>
        <p:txBody>
          <a:bodyPr wrap="square" lIns="50800" tIns="50800" rIns="50800" bIns="50800" rtlCol="0" anchor="t"/>
          <a:lstStyle/>
          <a:p>
            <a:pPr marL="0" indent="0">
              <a:buNone/>
            </a:pPr>
            <a:r>
              <a:rPr lang="en-US" sz="1200" dirty="0">
                <a:solidFill>
                  <a:srgbClr val="0D1B2A"/>
                </a:solidFill>
                <a:latin typeface="Calibri" pitchFamily="34" charset="0"/>
                <a:ea typeface="Calibri" pitchFamily="34" charset="-122"/>
                <a:cs typeface="Calibri" pitchFamily="34" charset="-120"/>
              </a:rPr>
              <a:t>Subir los archivos PGN a la red IPFS mediante Pinata</a:t>
            </a:r>
            <a:endParaRPr lang="en-US" sz="1200" dirty="0"/>
          </a:p>
        </p:txBody>
      </p:sp>
      <p:sp>
        <p:nvSpPr>
          <p:cNvPr id="15" name="Shape 13"/>
          <p:cNvSpPr/>
          <p:nvPr/>
        </p:nvSpPr>
        <p:spPr>
          <a:xfrm>
            <a:off x="6080760" y="2514600"/>
            <a:ext cx="2743200" cy="233172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16" name="Text 14"/>
          <p:cNvSpPr/>
          <p:nvPr/>
        </p:nvSpPr>
        <p:spPr>
          <a:xfrm>
            <a:off x="6172200" y="260604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6858000" y="2651760"/>
            <a:ext cx="1828800" cy="502920"/>
          </a:xfrm>
          <a:prstGeom prst="rect">
            <a:avLst/>
          </a:prstGeom>
          <a:noFill/>
          <a:ln/>
        </p:spPr>
        <p:txBody>
          <a:bodyPr wrap="square" lIns="0" tIns="0" rIns="0" bIns="0" rtlCol="0" anchor="ctr"/>
          <a:lstStyle/>
          <a:p>
            <a:pPr marL="0" indent="0">
              <a:buNone/>
            </a:pPr>
            <a:r>
              <a:rPr lang="en-US" sz="1300" b="1" dirty="0">
                <a:solidFill>
                  <a:srgbClr val="0077A8"/>
                </a:solidFill>
                <a:latin typeface="Georgia" pitchFamily="34" charset="0"/>
                <a:ea typeface="Georgia" pitchFamily="34" charset="-122"/>
                <a:cs typeface="Georgia" pitchFamily="34" charset="-120"/>
              </a:rPr>
              <a:t>Crear contrato ERC-721</a:t>
            </a:r>
            <a:endParaRPr lang="en-US" sz="1300" dirty="0"/>
          </a:p>
        </p:txBody>
      </p:sp>
      <p:sp>
        <p:nvSpPr>
          <p:cNvPr id="18" name="Text 16"/>
          <p:cNvSpPr/>
          <p:nvPr/>
        </p:nvSpPr>
        <p:spPr>
          <a:xfrm>
            <a:off x="6172200" y="3246120"/>
            <a:ext cx="2514600" cy="1463040"/>
          </a:xfrm>
          <a:prstGeom prst="rect">
            <a:avLst/>
          </a:prstGeom>
          <a:noFill/>
          <a:ln/>
        </p:spPr>
        <p:txBody>
          <a:bodyPr wrap="square" lIns="50800" tIns="50800" rIns="50800" bIns="50800" rtlCol="0" anchor="t"/>
          <a:lstStyle/>
          <a:p>
            <a:pPr marL="0" indent="0">
              <a:buNone/>
            </a:pPr>
            <a:r>
              <a:rPr lang="en-US" sz="1200" dirty="0">
                <a:solidFill>
                  <a:srgbClr val="0D1B2A"/>
                </a:solidFill>
                <a:latin typeface="Calibri" pitchFamily="34" charset="0"/>
                <a:ea typeface="Calibri" pitchFamily="34" charset="-122"/>
                <a:cs typeface="Calibri" pitchFamily="34" charset="-120"/>
              </a:rPr>
              <a:t>Desarrollar ChessNFT en Solidity y desplegarlo en Sepolia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Obtención de Partidas: Lichess y PGN</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4114800" cy="384048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5" name="Text 3"/>
          <p:cNvSpPr/>
          <p:nvPr/>
        </p:nvSpPr>
        <p:spPr>
          <a:xfrm>
            <a:off x="457200" y="1097280"/>
            <a:ext cx="3749040" cy="365760"/>
          </a:xfrm>
          <a:prstGeom prst="rect">
            <a:avLst/>
          </a:prstGeom>
          <a:noFill/>
          <a:ln/>
        </p:spPr>
        <p:txBody>
          <a:bodyPr wrap="square" lIns="0" tIns="0" rIns="0" bIns="0"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  Lichess</a:t>
            </a:r>
            <a:endParaRPr lang="en-US" sz="1500" dirty="0"/>
          </a:p>
        </p:txBody>
      </p:sp>
      <p:sp>
        <p:nvSpPr>
          <p:cNvPr id="6" name="Text 4"/>
          <p:cNvSpPr/>
          <p:nvPr/>
        </p:nvSpPr>
        <p:spPr>
          <a:xfrm>
            <a:off x="457200" y="1508760"/>
            <a:ext cx="374904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Sitio web gratuito y de código abierto para jugar ajedrez online.</a:t>
            </a:r>
            <a:endParaRPr lang="en-US" sz="1200" dirty="0"/>
          </a:p>
        </p:txBody>
      </p:sp>
      <p:sp>
        <p:nvSpPr>
          <p:cNvPr id="7" name="Text 5"/>
          <p:cNvSpPr/>
          <p:nvPr/>
        </p:nvSpPr>
        <p:spPr>
          <a:xfrm>
            <a:off x="457200" y="2057400"/>
            <a:ext cx="3749040" cy="2468880"/>
          </a:xfrm>
          <a:prstGeom prst="rect">
            <a:avLst/>
          </a:prstGeom>
          <a:noFill/>
          <a:ln/>
        </p:spPr>
        <p:txBody>
          <a:bodyPr wrap="square" lIns="50800" tIns="101600" rIns="50800" bIns="508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Millones de partidas disponibles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Permite descargar cualquier partida</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Formato de descarga: PGN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URL: lichess.org</a:t>
            </a:r>
            <a:endParaRPr lang="en-US" sz="1200" dirty="0"/>
          </a:p>
        </p:txBody>
      </p:sp>
      <p:sp>
        <p:nvSpPr>
          <p:cNvPr id="8" name="Shape 6"/>
          <p:cNvSpPr/>
          <p:nvPr/>
        </p:nvSpPr>
        <p:spPr>
          <a:xfrm>
            <a:off x="4617720" y="1005840"/>
            <a:ext cx="4206240" cy="384048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9" name="Text 7"/>
          <p:cNvSpPr/>
          <p:nvPr/>
        </p:nvSpPr>
        <p:spPr>
          <a:xfrm>
            <a:off x="4754880" y="1097280"/>
            <a:ext cx="3840480" cy="365760"/>
          </a:xfrm>
          <a:prstGeom prst="rect">
            <a:avLst/>
          </a:prstGeom>
          <a:noFill/>
          <a:ln/>
        </p:spPr>
        <p:txBody>
          <a:bodyPr wrap="square" lIns="0" tIns="0" rIns="0" bIns="0" rtlCol="0" anchor="ctr"/>
          <a:lstStyle/>
          <a:p>
            <a:pPr marL="0" indent="0">
              <a:buNone/>
            </a:pPr>
            <a:r>
              <a:rPr lang="en-US" sz="1500" b="1" dirty="0">
                <a:solidFill>
                  <a:srgbClr val="F59E0B"/>
                </a:solidFill>
                <a:latin typeface="Georgia" pitchFamily="34" charset="0"/>
                <a:ea typeface="Georgia" pitchFamily="34" charset="-122"/>
                <a:cs typeface="Georgia" pitchFamily="34" charset="-120"/>
              </a:rPr>
              <a:t>📄  Archivo PGN</a:t>
            </a:r>
            <a:endParaRPr lang="en-US" sz="1500" dirty="0"/>
          </a:p>
        </p:txBody>
      </p:sp>
      <p:sp>
        <p:nvSpPr>
          <p:cNvPr id="10" name="Text 8"/>
          <p:cNvSpPr/>
          <p:nvPr/>
        </p:nvSpPr>
        <p:spPr>
          <a:xfrm>
            <a:off x="4754880" y="1508760"/>
            <a:ext cx="384048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Portable Game Notation — formato estándar para guardar partidas de ajedrez.</a:t>
            </a:r>
            <a:endParaRPr lang="en-US" sz="1200" dirty="0"/>
          </a:p>
        </p:txBody>
      </p:sp>
      <p:sp>
        <p:nvSpPr>
          <p:cNvPr id="11" name="Shape 9"/>
          <p:cNvSpPr/>
          <p:nvPr/>
        </p:nvSpPr>
        <p:spPr>
          <a:xfrm>
            <a:off x="4754880" y="2084832"/>
            <a:ext cx="3840480" cy="1554480"/>
          </a:xfrm>
          <a:prstGeom prst="rect">
            <a:avLst/>
          </a:prstGeom>
          <a:solidFill>
            <a:srgbClr val="0A1628"/>
          </a:solidFill>
          <a:ln w="10160">
            <a:solidFill>
              <a:srgbClr val="00B4D8"/>
            </a:solidFill>
            <a:prstDash val="solid"/>
          </a:ln>
        </p:spPr>
        <p:txBody>
          <a:bodyPr/>
          <a:lstStyle/>
          <a:p>
            <a:endParaRPr lang="en-US"/>
          </a:p>
        </p:txBody>
      </p:sp>
      <p:sp>
        <p:nvSpPr>
          <p:cNvPr id="12" name="Text 10"/>
          <p:cNvSpPr/>
          <p:nvPr/>
        </p:nvSpPr>
        <p:spPr>
          <a:xfrm>
            <a:off x="4800600" y="2121408"/>
            <a:ext cx="3749040" cy="1463040"/>
          </a:xfrm>
          <a:prstGeom prst="rect">
            <a:avLst/>
          </a:prstGeom>
          <a:noFill/>
          <a:ln/>
        </p:spPr>
        <p:txBody>
          <a:bodyPr wrap="square" lIns="38100" tIns="38100" rIns="38100" bIns="38100" rtlCol="0" anchor="t"/>
          <a:lstStyle/>
          <a:p>
            <a:pPr marL="0" indent="0">
              <a:buNone/>
            </a:pPr>
            <a:r>
              <a:rPr lang="en-US" sz="950" dirty="0">
                <a:solidFill>
                  <a:srgbClr val="10B981"/>
                </a:solidFill>
                <a:latin typeface="Consolas" pitchFamily="34" charset="0"/>
                <a:ea typeface="Consolas" pitchFamily="34" charset="-122"/>
                <a:cs typeface="Consolas" pitchFamily="34" charset="-120"/>
              </a:rPr>
              <a:t>[Event "Casual Game"]</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[Site "lichess.org"]</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[White "PlayerA"]</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[Black "PlayerB"]</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[Result "1-0"]</a:t>
            </a:r>
            <a:endParaRPr lang="en-US" sz="950" dirty="0"/>
          </a:p>
          <a:p>
            <a:pPr marL="0" indent="0">
              <a:buNone/>
            </a:pP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1. e4 e5 2. Nf3 Nc6...</a:t>
            </a:r>
            <a:endParaRPr lang="en-US" sz="950" dirty="0"/>
          </a:p>
        </p:txBody>
      </p:sp>
      <p:sp>
        <p:nvSpPr>
          <p:cNvPr id="13" name="Text 11"/>
          <p:cNvSpPr/>
          <p:nvPr/>
        </p:nvSpPr>
        <p:spPr>
          <a:xfrm>
            <a:off x="4754880" y="3730752"/>
            <a:ext cx="3840480" cy="1005840"/>
          </a:xfrm>
          <a:prstGeom prst="rect">
            <a:avLst/>
          </a:prstGeom>
          <a:noFill/>
          <a:ln/>
        </p:spPr>
        <p:txBody>
          <a:bodyPr wrap="square" lIns="50800" tIns="101600" rIns="50800" bIns="50800" rtlCol="0" anchor="t"/>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Contiene información completa de la partida</a:t>
            </a:r>
            <a:endParaRPr lang="en-US" sz="1150" dirty="0"/>
          </a:p>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Cada movimiento queda registrado</a:t>
            </a:r>
            <a:endParaRPr lang="en-US" sz="1150" dirty="0"/>
          </a:p>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Texto plano → fácil de subir a IPFS</a:t>
            </a:r>
            <a:endParaRPr lang="en-US" sz="1150" dirty="0"/>
          </a:p>
        </p:txBody>
      </p:sp>
      <p:sp>
        <p:nvSpPr>
          <p:cNvPr id="14" name="Shape 12"/>
          <p:cNvSpPr/>
          <p:nvPr/>
        </p:nvSpPr>
        <p:spPr>
          <a:xfrm>
            <a:off x="320040" y="4709160"/>
            <a:ext cx="8503920" cy="274320"/>
          </a:xfrm>
          <a:prstGeom prst="rect">
            <a:avLst/>
          </a:prstGeom>
          <a:solidFill>
            <a:srgbClr val="0077A8"/>
          </a:solidFill>
          <a:ln w="12700">
            <a:solidFill>
              <a:srgbClr val="0077A8"/>
            </a:solidFill>
            <a:prstDash val="solid"/>
          </a:ln>
        </p:spPr>
        <p:txBody>
          <a:bodyPr/>
          <a:lstStyle/>
          <a:p>
            <a:endParaRPr lang="en-US"/>
          </a:p>
        </p:txBody>
      </p:sp>
      <p:sp>
        <p:nvSpPr>
          <p:cNvPr id="15" name="Text 13"/>
          <p:cNvSpPr/>
          <p:nvPr/>
        </p:nvSpPr>
        <p:spPr>
          <a:xfrm>
            <a:off x="457200" y="4736592"/>
            <a:ext cx="8229600"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Descargamos 5 partidas de Lichess → 5 archivos .pgn listos para subir a IPFS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6FB"/>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0D1B2A"/>
                </a:solidFill>
                <a:latin typeface="Georgia" pitchFamily="34" charset="0"/>
                <a:ea typeface="Georgia" pitchFamily="34" charset="-122"/>
                <a:cs typeface="Georgia" pitchFamily="34" charset="-120"/>
              </a:rPr>
              <a:t>Almacenamiento en IPFS</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987552"/>
            <a:ext cx="4023360" cy="384048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457200" y="1078992"/>
            <a:ext cx="3657600" cy="365760"/>
          </a:xfrm>
          <a:prstGeom prst="rect">
            <a:avLst/>
          </a:prstGeom>
          <a:noFill/>
          <a:ln/>
        </p:spPr>
        <p:txBody>
          <a:bodyPr wrap="square" lIns="0" tIns="0" rIns="0" bIns="0"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¿Qué es IPFS?</a:t>
            </a:r>
            <a:endParaRPr lang="en-US" sz="1400" dirty="0"/>
          </a:p>
        </p:txBody>
      </p:sp>
      <p:sp>
        <p:nvSpPr>
          <p:cNvPr id="6" name="Text 4"/>
          <p:cNvSpPr/>
          <p:nvPr/>
        </p:nvSpPr>
        <p:spPr>
          <a:xfrm>
            <a:off x="457200" y="1481328"/>
            <a:ext cx="3657600" cy="50292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InterPlanetary File System</a:t>
            </a:r>
            <a:endParaRPr lang="en-US" sz="1200" dirty="0"/>
          </a:p>
          <a:p>
            <a:pPr marL="0" indent="0">
              <a:buNone/>
            </a:pPr>
            <a:r>
              <a:rPr lang="en-US" sz="1200" dirty="0">
                <a:solidFill>
                  <a:srgbClr val="0D1B2A"/>
                </a:solidFill>
                <a:latin typeface="Calibri" pitchFamily="34" charset="0"/>
                <a:ea typeface="Calibri" pitchFamily="34" charset="-122"/>
                <a:cs typeface="Calibri" pitchFamily="34" charset="-120"/>
              </a:rPr>
              <a:t>Sistema de archivos descentralizado.</a:t>
            </a:r>
            <a:endParaRPr lang="en-US" sz="1200" dirty="0"/>
          </a:p>
        </p:txBody>
      </p:sp>
      <p:sp>
        <p:nvSpPr>
          <p:cNvPr id="7" name="Text 5"/>
          <p:cNvSpPr/>
          <p:nvPr/>
        </p:nvSpPr>
        <p:spPr>
          <a:xfrm>
            <a:off x="457200" y="2029968"/>
            <a:ext cx="3566160" cy="2560320"/>
          </a:xfrm>
          <a:prstGeom prst="rect">
            <a:avLst/>
          </a:prstGeom>
          <a:noFill/>
          <a:ln/>
        </p:spPr>
        <p:txBody>
          <a:bodyPr wrap="square" lIns="50800" tIns="101600" rIns="50800" bIns="50800" rtlCol="0" anchor="t"/>
          <a:lstStyle/>
          <a:p>
            <a:pPr marL="342900" indent="-342900">
              <a:buSzPct val="100000"/>
              <a:buChar char="•"/>
            </a:pPr>
            <a:r>
              <a:rPr lang="en-US" sz="1150" dirty="0">
                <a:solidFill>
                  <a:srgbClr val="0D1B2A"/>
                </a:solidFill>
                <a:latin typeface="Calibri" pitchFamily="34" charset="0"/>
                <a:ea typeface="Calibri" pitchFamily="34" charset="-122"/>
                <a:cs typeface="Calibri" pitchFamily="34" charset="-120"/>
              </a:rPr>
              <a:t>Los archivos no están en un servidor central</a:t>
            </a:r>
            <a:endParaRPr lang="en-US" sz="1150" dirty="0"/>
          </a:p>
          <a:p>
            <a:pPr marL="342900" indent="-342900">
              <a:buSzPct val="100000"/>
              <a:buChar char="•"/>
            </a:pPr>
            <a:r>
              <a:rPr lang="en-US" sz="1150" dirty="0">
                <a:solidFill>
                  <a:srgbClr val="0D1B2A"/>
                </a:solidFill>
                <a:latin typeface="Calibri" pitchFamily="34" charset="0"/>
                <a:ea typeface="Calibri" pitchFamily="34" charset="-122"/>
                <a:cs typeface="Calibri" pitchFamily="34" charset="-120"/>
              </a:rPr>
              <a:t>Cada archivo recibe un ID único llamado CID</a:t>
            </a:r>
            <a:endParaRPr lang="en-US" sz="1150" dirty="0"/>
          </a:p>
          <a:p>
            <a:pPr marL="342900" indent="-342900">
              <a:buSzPct val="100000"/>
              <a:buChar char="•"/>
            </a:pPr>
            <a:r>
              <a:rPr lang="en-US" sz="1150" dirty="0">
                <a:solidFill>
                  <a:srgbClr val="0D1B2A"/>
                </a:solidFill>
                <a:latin typeface="Calibri" pitchFamily="34" charset="0"/>
                <a:ea typeface="Calibri" pitchFamily="34" charset="-122"/>
                <a:cs typeface="Calibri" pitchFamily="34" charset="-120"/>
              </a:rPr>
              <a:t>Si el archivo cambia, el CID cambia → garantiza integridad</a:t>
            </a:r>
            <a:endParaRPr lang="en-US" sz="1150" dirty="0"/>
          </a:p>
          <a:p>
            <a:pPr marL="342900" indent="-342900">
              <a:buSzPct val="100000"/>
              <a:buChar char="•"/>
            </a:pPr>
            <a:r>
              <a:rPr lang="en-US" sz="1150" dirty="0">
                <a:solidFill>
                  <a:srgbClr val="0D1B2A"/>
                </a:solidFill>
                <a:latin typeface="Calibri" pitchFamily="34" charset="0"/>
                <a:ea typeface="Calibri" pitchFamily="34" charset="-122"/>
                <a:cs typeface="Calibri" pitchFamily="34" charset="-120"/>
              </a:rPr>
              <a:t>Perfecto para blockchain: el NFT guarda el CID</a:t>
            </a:r>
            <a:endParaRPr lang="en-US" sz="1150" dirty="0"/>
          </a:p>
        </p:txBody>
      </p:sp>
      <p:sp>
        <p:nvSpPr>
          <p:cNvPr id="8" name="Shape 6"/>
          <p:cNvSpPr/>
          <p:nvPr/>
        </p:nvSpPr>
        <p:spPr>
          <a:xfrm>
            <a:off x="4572000" y="987552"/>
            <a:ext cx="4251960" cy="384048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9" name="Text 7"/>
          <p:cNvSpPr/>
          <p:nvPr/>
        </p:nvSpPr>
        <p:spPr>
          <a:xfrm>
            <a:off x="4709160" y="1078992"/>
            <a:ext cx="3931920" cy="365760"/>
          </a:xfrm>
          <a:prstGeom prst="rect">
            <a:avLst/>
          </a:prstGeom>
          <a:noFill/>
          <a:ln/>
        </p:spPr>
        <p:txBody>
          <a:bodyPr wrap="square" lIns="0" tIns="0" rIns="0" bIns="0" rtlCol="0" anchor="ctr"/>
          <a:lstStyle/>
          <a:p>
            <a:pPr marL="0" indent="0">
              <a:buNone/>
            </a:pPr>
            <a:r>
              <a:rPr lang="en-US" sz="1400" b="1" dirty="0">
                <a:solidFill>
                  <a:srgbClr val="0077A8"/>
                </a:solidFill>
                <a:latin typeface="Georgia" pitchFamily="34" charset="0"/>
                <a:ea typeface="Georgia" pitchFamily="34" charset="-122"/>
                <a:cs typeface="Georgia" pitchFamily="34" charset="-120"/>
              </a:rPr>
              <a:t>📌  Pinata + CIDs</a:t>
            </a:r>
            <a:endParaRPr lang="en-US" sz="1400" dirty="0"/>
          </a:p>
        </p:txBody>
      </p:sp>
      <p:sp>
        <p:nvSpPr>
          <p:cNvPr id="10" name="Text 8"/>
          <p:cNvSpPr/>
          <p:nvPr/>
        </p:nvSpPr>
        <p:spPr>
          <a:xfrm>
            <a:off x="4709160" y="1481328"/>
            <a:ext cx="3931920" cy="365760"/>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Pinata es un servicio que facilita subir archivos a IPFS.</a:t>
            </a:r>
            <a:endParaRPr lang="en-US" sz="1200" dirty="0"/>
          </a:p>
        </p:txBody>
      </p:sp>
      <p:sp>
        <p:nvSpPr>
          <p:cNvPr id="11" name="Shape 9"/>
          <p:cNvSpPr/>
          <p:nvPr/>
        </p:nvSpPr>
        <p:spPr>
          <a:xfrm>
            <a:off x="4617720" y="1920240"/>
            <a:ext cx="4114800" cy="2743200"/>
          </a:xfrm>
          <a:prstGeom prst="rect">
            <a:avLst/>
          </a:prstGeom>
          <a:solidFill>
            <a:srgbClr val="0A1628"/>
          </a:solidFill>
          <a:ln w="8890">
            <a:solidFill>
              <a:srgbClr val="00B4D8"/>
            </a:solidFill>
            <a:prstDash val="solid"/>
          </a:ln>
        </p:spPr>
        <p:txBody>
          <a:bodyPr/>
          <a:lstStyle/>
          <a:p>
            <a:endParaRPr lang="en-US"/>
          </a:p>
        </p:txBody>
      </p:sp>
      <p:sp>
        <p:nvSpPr>
          <p:cNvPr id="12" name="Text 10"/>
          <p:cNvSpPr/>
          <p:nvPr/>
        </p:nvSpPr>
        <p:spPr>
          <a:xfrm>
            <a:off x="4663440" y="1956816"/>
            <a:ext cx="4023360" cy="274320"/>
          </a:xfrm>
          <a:prstGeom prst="rect">
            <a:avLst/>
          </a:prstGeom>
          <a:noFill/>
          <a:ln/>
        </p:spPr>
        <p:txBody>
          <a:bodyPr wrap="square" lIns="0" tIns="0" rIns="0" bIns="0"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CID = Content Identifier</a:t>
            </a:r>
            <a:endParaRPr lang="en-US" sz="1000" dirty="0"/>
          </a:p>
        </p:txBody>
      </p:sp>
      <p:sp>
        <p:nvSpPr>
          <p:cNvPr id="13" name="Text 11"/>
          <p:cNvSpPr/>
          <p:nvPr/>
        </p:nvSpPr>
        <p:spPr>
          <a:xfrm>
            <a:off x="4681728" y="2286000"/>
            <a:ext cx="731520" cy="347472"/>
          </a:xfrm>
          <a:prstGeom prst="rect">
            <a:avLst/>
          </a:prstGeom>
          <a:noFill/>
          <a:ln/>
        </p:spPr>
        <p:txBody>
          <a:bodyPr wrap="square" lIns="0" tIns="5080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Juego 1</a:t>
            </a:r>
            <a:endParaRPr lang="en-US" sz="950" dirty="0"/>
          </a:p>
        </p:txBody>
      </p:sp>
      <p:sp>
        <p:nvSpPr>
          <p:cNvPr id="14" name="Text 12"/>
          <p:cNvSpPr/>
          <p:nvPr/>
        </p:nvSpPr>
        <p:spPr>
          <a:xfrm>
            <a:off x="5440680" y="2286000"/>
            <a:ext cx="3200400" cy="347472"/>
          </a:xfrm>
          <a:prstGeom prst="rect">
            <a:avLst/>
          </a:prstGeom>
          <a:noFill/>
          <a:ln/>
        </p:spPr>
        <p:txBody>
          <a:bodyPr wrap="square" lIns="0" tIns="25400" rIns="0" bIns="0" rtlCol="0" anchor="ctr"/>
          <a:lstStyle/>
          <a:p>
            <a:pPr marL="0" indent="0">
              <a:buNone/>
            </a:pPr>
            <a:r>
              <a:rPr lang="en-US" sz="850" dirty="0">
                <a:solidFill>
                  <a:srgbClr val="10B981"/>
                </a:solidFill>
                <a:latin typeface="Consolas" pitchFamily="34" charset="0"/>
                <a:ea typeface="Consolas" pitchFamily="34" charset="-122"/>
                <a:cs typeface="Consolas" pitchFamily="34" charset="-120"/>
              </a:rPr>
              <a:t>bafkreihh4a4s…khvhu</a:t>
            </a:r>
            <a:endParaRPr lang="en-US" sz="850" dirty="0"/>
          </a:p>
        </p:txBody>
      </p:sp>
      <p:sp>
        <p:nvSpPr>
          <p:cNvPr id="15" name="Text 13"/>
          <p:cNvSpPr/>
          <p:nvPr/>
        </p:nvSpPr>
        <p:spPr>
          <a:xfrm>
            <a:off x="4681728" y="2752344"/>
            <a:ext cx="731520" cy="347472"/>
          </a:xfrm>
          <a:prstGeom prst="rect">
            <a:avLst/>
          </a:prstGeom>
          <a:noFill/>
          <a:ln/>
        </p:spPr>
        <p:txBody>
          <a:bodyPr wrap="square" lIns="0" tIns="5080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Juego 2</a:t>
            </a:r>
            <a:endParaRPr lang="en-US" sz="950" dirty="0"/>
          </a:p>
        </p:txBody>
      </p:sp>
      <p:sp>
        <p:nvSpPr>
          <p:cNvPr id="16" name="Text 14"/>
          <p:cNvSpPr/>
          <p:nvPr/>
        </p:nvSpPr>
        <p:spPr>
          <a:xfrm>
            <a:off x="5440680" y="2752344"/>
            <a:ext cx="3200400" cy="347472"/>
          </a:xfrm>
          <a:prstGeom prst="rect">
            <a:avLst/>
          </a:prstGeom>
          <a:noFill/>
          <a:ln/>
        </p:spPr>
        <p:txBody>
          <a:bodyPr wrap="square" lIns="0" tIns="25400" rIns="0" bIns="0" rtlCol="0" anchor="ctr"/>
          <a:lstStyle/>
          <a:p>
            <a:pPr marL="0" indent="0">
              <a:buNone/>
            </a:pPr>
            <a:r>
              <a:rPr lang="en-US" sz="850" dirty="0">
                <a:solidFill>
                  <a:srgbClr val="10B981"/>
                </a:solidFill>
                <a:latin typeface="Consolas" pitchFamily="34" charset="0"/>
                <a:ea typeface="Consolas" pitchFamily="34" charset="-122"/>
                <a:cs typeface="Consolas" pitchFamily="34" charset="-120"/>
              </a:rPr>
              <a:t>bafkreiacmaym…nkwe</a:t>
            </a:r>
            <a:endParaRPr lang="en-US" sz="850" dirty="0"/>
          </a:p>
        </p:txBody>
      </p:sp>
      <p:sp>
        <p:nvSpPr>
          <p:cNvPr id="17" name="Text 15"/>
          <p:cNvSpPr/>
          <p:nvPr/>
        </p:nvSpPr>
        <p:spPr>
          <a:xfrm>
            <a:off x="4681728" y="3218688"/>
            <a:ext cx="731520" cy="347472"/>
          </a:xfrm>
          <a:prstGeom prst="rect">
            <a:avLst/>
          </a:prstGeom>
          <a:noFill/>
          <a:ln/>
        </p:spPr>
        <p:txBody>
          <a:bodyPr wrap="square" lIns="0" tIns="5080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Juego 3</a:t>
            </a:r>
            <a:endParaRPr lang="en-US" sz="950" dirty="0"/>
          </a:p>
        </p:txBody>
      </p:sp>
      <p:sp>
        <p:nvSpPr>
          <p:cNvPr id="18" name="Text 16"/>
          <p:cNvSpPr/>
          <p:nvPr/>
        </p:nvSpPr>
        <p:spPr>
          <a:xfrm>
            <a:off x="5440680" y="3218688"/>
            <a:ext cx="3200400" cy="347472"/>
          </a:xfrm>
          <a:prstGeom prst="rect">
            <a:avLst/>
          </a:prstGeom>
          <a:noFill/>
          <a:ln/>
        </p:spPr>
        <p:txBody>
          <a:bodyPr wrap="square" lIns="0" tIns="25400" rIns="0" bIns="0" rtlCol="0" anchor="ctr"/>
          <a:lstStyle/>
          <a:p>
            <a:pPr marL="0" indent="0">
              <a:buNone/>
            </a:pPr>
            <a:r>
              <a:rPr lang="en-US" sz="850" dirty="0">
                <a:solidFill>
                  <a:srgbClr val="10B981"/>
                </a:solidFill>
                <a:latin typeface="Consolas" pitchFamily="34" charset="0"/>
                <a:ea typeface="Consolas" pitchFamily="34" charset="-122"/>
                <a:cs typeface="Consolas" pitchFamily="34" charset="-120"/>
              </a:rPr>
              <a:t>bafkreiapssix…nhoa</a:t>
            </a:r>
            <a:endParaRPr lang="en-US" sz="850" dirty="0"/>
          </a:p>
        </p:txBody>
      </p:sp>
      <p:sp>
        <p:nvSpPr>
          <p:cNvPr id="19" name="Text 17"/>
          <p:cNvSpPr/>
          <p:nvPr/>
        </p:nvSpPr>
        <p:spPr>
          <a:xfrm>
            <a:off x="4681728" y="3685032"/>
            <a:ext cx="731520" cy="347472"/>
          </a:xfrm>
          <a:prstGeom prst="rect">
            <a:avLst/>
          </a:prstGeom>
          <a:noFill/>
          <a:ln/>
        </p:spPr>
        <p:txBody>
          <a:bodyPr wrap="square" lIns="0" tIns="5080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Juego 4</a:t>
            </a:r>
            <a:endParaRPr lang="en-US" sz="950" dirty="0"/>
          </a:p>
        </p:txBody>
      </p:sp>
      <p:sp>
        <p:nvSpPr>
          <p:cNvPr id="20" name="Text 18"/>
          <p:cNvSpPr/>
          <p:nvPr/>
        </p:nvSpPr>
        <p:spPr>
          <a:xfrm>
            <a:off x="5440680" y="3685032"/>
            <a:ext cx="3200400" cy="347472"/>
          </a:xfrm>
          <a:prstGeom prst="rect">
            <a:avLst/>
          </a:prstGeom>
          <a:noFill/>
          <a:ln/>
        </p:spPr>
        <p:txBody>
          <a:bodyPr wrap="square" lIns="0" tIns="25400" rIns="0" bIns="0" rtlCol="0" anchor="ctr"/>
          <a:lstStyle/>
          <a:p>
            <a:pPr marL="0" indent="0">
              <a:buNone/>
            </a:pPr>
            <a:r>
              <a:rPr lang="en-US" sz="850" dirty="0">
                <a:solidFill>
                  <a:srgbClr val="10B981"/>
                </a:solidFill>
                <a:latin typeface="Consolas" pitchFamily="34" charset="0"/>
                <a:ea typeface="Consolas" pitchFamily="34" charset="-122"/>
                <a:cs typeface="Consolas" pitchFamily="34" charset="-120"/>
              </a:rPr>
              <a:t>bafkreifegonm…qopq</a:t>
            </a:r>
            <a:endParaRPr lang="en-US" sz="850" dirty="0"/>
          </a:p>
        </p:txBody>
      </p:sp>
      <p:sp>
        <p:nvSpPr>
          <p:cNvPr id="21" name="Text 19"/>
          <p:cNvSpPr/>
          <p:nvPr/>
        </p:nvSpPr>
        <p:spPr>
          <a:xfrm>
            <a:off x="4681728" y="4151376"/>
            <a:ext cx="731520" cy="347472"/>
          </a:xfrm>
          <a:prstGeom prst="rect">
            <a:avLst/>
          </a:prstGeom>
          <a:noFill/>
          <a:ln/>
        </p:spPr>
        <p:txBody>
          <a:bodyPr wrap="square" lIns="0" tIns="5080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Juego 5</a:t>
            </a:r>
            <a:endParaRPr lang="en-US" sz="950" dirty="0"/>
          </a:p>
        </p:txBody>
      </p:sp>
      <p:sp>
        <p:nvSpPr>
          <p:cNvPr id="22" name="Text 20"/>
          <p:cNvSpPr/>
          <p:nvPr/>
        </p:nvSpPr>
        <p:spPr>
          <a:xfrm>
            <a:off x="5440680" y="4151376"/>
            <a:ext cx="3200400" cy="347472"/>
          </a:xfrm>
          <a:prstGeom prst="rect">
            <a:avLst/>
          </a:prstGeom>
          <a:noFill/>
          <a:ln/>
        </p:spPr>
        <p:txBody>
          <a:bodyPr wrap="square" lIns="0" tIns="25400" rIns="0" bIns="0" rtlCol="0" anchor="ctr"/>
          <a:lstStyle/>
          <a:p>
            <a:pPr marL="0" indent="0">
              <a:buNone/>
            </a:pPr>
            <a:r>
              <a:rPr lang="en-US" sz="850" dirty="0">
                <a:solidFill>
                  <a:srgbClr val="10B981"/>
                </a:solidFill>
                <a:latin typeface="Consolas" pitchFamily="34" charset="0"/>
                <a:ea typeface="Consolas" pitchFamily="34" charset="-122"/>
                <a:cs typeface="Consolas" pitchFamily="34" charset="-120"/>
              </a:rPr>
              <a:t>bafkreih7lnjv…fyc4</a:t>
            </a:r>
            <a:endParaRPr lang="en-US" sz="850" dirty="0"/>
          </a:p>
        </p:txBody>
      </p:sp>
      <p:sp>
        <p:nvSpPr>
          <p:cNvPr id="23" name="Text 21"/>
          <p:cNvSpPr/>
          <p:nvPr/>
        </p:nvSpPr>
        <p:spPr>
          <a:xfrm>
            <a:off x="320040" y="4846320"/>
            <a:ext cx="8503920" cy="201168"/>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 ¿Por qué no guardamos el PGN directamente en blockchain? Guardar datos en blockchain es muy costoso. El PGN va en IPFS; el blockchain sólo guarda el CID (un link).</a:t>
            </a:r>
            <a:endParaRPr lang="en-US" sz="950" dirty="0"/>
          </a:p>
        </p:txBody>
      </p:sp>
      <p:pic>
        <p:nvPicPr>
          <p:cNvPr id="25" name="Picture 24">
            <a:extLst>
              <a:ext uri="{FF2B5EF4-FFF2-40B4-BE49-F238E27FC236}">
                <a16:creationId xmlns:a16="http://schemas.microsoft.com/office/drawing/2014/main" id="{92FDFAE1-8968-22E5-91D9-26D679BCB719}"/>
              </a:ext>
            </a:extLst>
          </p:cNvPr>
          <p:cNvPicPr>
            <a:picLocks noChangeAspect="1"/>
          </p:cNvPicPr>
          <p:nvPr/>
        </p:nvPicPr>
        <p:blipFill>
          <a:blip r:embed="rId3"/>
          <a:stretch>
            <a:fillRect/>
          </a:stretch>
        </p:blipFill>
        <p:spPr>
          <a:xfrm>
            <a:off x="434340" y="3159253"/>
            <a:ext cx="3611880" cy="1527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Smart Contract: ChessNFT — Estructura</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987552"/>
            <a:ext cx="5120640" cy="3931920"/>
          </a:xfrm>
          <a:prstGeom prst="rect">
            <a:avLst/>
          </a:prstGeom>
          <a:solidFill>
            <a:srgbClr val="0A1628"/>
          </a:solidFill>
          <a:ln w="10160">
            <a:solidFill>
              <a:srgbClr val="00B4D8"/>
            </a:solidFill>
            <a:prstDash val="solid"/>
          </a:ln>
        </p:spPr>
        <p:txBody>
          <a:bodyPr/>
          <a:lstStyle/>
          <a:p>
            <a:endParaRPr lang="en-US"/>
          </a:p>
        </p:txBody>
      </p:sp>
      <p:sp>
        <p:nvSpPr>
          <p:cNvPr id="5" name="Text 3"/>
          <p:cNvSpPr/>
          <p:nvPr/>
        </p:nvSpPr>
        <p:spPr>
          <a:xfrm>
            <a:off x="411480" y="1024128"/>
            <a:ext cx="4937760" cy="3840480"/>
          </a:xfrm>
          <a:prstGeom prst="rect">
            <a:avLst/>
          </a:prstGeom>
          <a:noFill/>
          <a:ln/>
        </p:spPr>
        <p:txBody>
          <a:bodyPr wrap="square" lIns="50800" tIns="50800" rIns="50800" bIns="50800" rtlCol="0" anchor="t"/>
          <a:lstStyle/>
          <a:p>
            <a:pPr marL="0" indent="0">
              <a:buNone/>
            </a:pPr>
            <a:r>
              <a:rPr lang="en-US" sz="950" dirty="0">
                <a:solidFill>
                  <a:srgbClr val="10B981"/>
                </a:solidFill>
                <a:latin typeface="Consolas" pitchFamily="34" charset="0"/>
                <a:ea typeface="Consolas" pitchFamily="34" charset="-122"/>
                <a:cs typeface="Consolas" pitchFamily="34" charset="-120"/>
              </a:rPr>
              <a:t>// SPDX-License-Identifier: MIT</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pragma solidity ^0.8.0;</a:t>
            </a:r>
            <a:endParaRPr lang="en-US" sz="950" dirty="0"/>
          </a:p>
          <a:p>
            <a:pPr marL="0" indent="0">
              <a:buNone/>
            </a:pP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import "@openzeppelin/ERC721URIStorage.sol";</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import "@openzeppelin/Ownable.sol";</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import "IERC20.sol";</a:t>
            </a:r>
            <a:endParaRPr lang="en-US" sz="950" dirty="0"/>
          </a:p>
          <a:p>
            <a:pPr marL="0" indent="0">
              <a:buNone/>
            </a:pP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contract ChessNFT is</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ERC721URIStorage, Ownable {</a:t>
            </a:r>
            <a:endParaRPr lang="en-US" sz="950" dirty="0"/>
          </a:p>
          <a:p>
            <a:pPr marL="0" indent="0">
              <a:buNone/>
            </a:pP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uint256 private nextTokenId;</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IERC20 public paymentToken;</a:t>
            </a:r>
            <a:endParaRPr lang="en-US" sz="950" dirty="0"/>
          </a:p>
          <a:p>
            <a:pPr marL="0" indent="0">
              <a:buNone/>
            </a:pP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struct Sale {</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address seller;</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uint256 price;</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bool active;</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  mapping(uint256 =&gt; Sale) public sales;</a:t>
            </a:r>
            <a:endParaRPr lang="en-US" sz="950" dirty="0"/>
          </a:p>
          <a:p>
            <a:pPr marL="0" indent="0">
              <a:buNone/>
            </a:pPr>
            <a:r>
              <a:rPr lang="en-US" sz="950" dirty="0">
                <a:solidFill>
                  <a:srgbClr val="10B981"/>
                </a:solidFill>
                <a:latin typeface="Consolas" pitchFamily="34" charset="0"/>
                <a:ea typeface="Consolas" pitchFamily="34" charset="-122"/>
                <a:cs typeface="Consolas" pitchFamily="34" charset="-120"/>
              </a:rPr>
              <a:t>}</a:t>
            </a:r>
            <a:endParaRPr lang="en-US" sz="950" dirty="0"/>
          </a:p>
        </p:txBody>
      </p:sp>
      <p:sp>
        <p:nvSpPr>
          <p:cNvPr id="6" name="Shape 4"/>
          <p:cNvSpPr/>
          <p:nvPr/>
        </p:nvSpPr>
        <p:spPr>
          <a:xfrm>
            <a:off x="5623560" y="987552"/>
            <a:ext cx="3200400" cy="713232"/>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5742432" y="1033272"/>
            <a:ext cx="2971800" cy="256032"/>
          </a:xfrm>
          <a:prstGeom prst="rect">
            <a:avLst/>
          </a:prstGeom>
          <a:noFill/>
          <a:ln/>
        </p:spPr>
        <p:txBody>
          <a:bodyPr wrap="square" lIns="0" tIns="0" rIns="0" bIns="0" rtlCol="0" anchor="ctr"/>
          <a:lstStyle/>
          <a:p>
            <a:pPr marL="0" indent="0">
              <a:buNone/>
            </a:pPr>
            <a:r>
              <a:rPr lang="en-US" sz="1000" b="1" dirty="0">
                <a:solidFill>
                  <a:srgbClr val="00B4D8"/>
                </a:solidFill>
                <a:latin typeface="Consolas" pitchFamily="34" charset="0"/>
                <a:ea typeface="Consolas" pitchFamily="34" charset="-122"/>
                <a:cs typeface="Consolas" pitchFamily="34" charset="-120"/>
              </a:rPr>
              <a:t>ERC721URIStorage</a:t>
            </a:r>
            <a:endParaRPr lang="en-US" sz="1000" dirty="0"/>
          </a:p>
        </p:txBody>
      </p:sp>
      <p:sp>
        <p:nvSpPr>
          <p:cNvPr id="8" name="Text 6"/>
          <p:cNvSpPr/>
          <p:nvPr/>
        </p:nvSpPr>
        <p:spPr>
          <a:xfrm>
            <a:off x="5742432" y="1307592"/>
            <a:ext cx="2926080" cy="347472"/>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Hereda toda la lógica de NFT + permite guardar una URL por token</a:t>
            </a:r>
            <a:endParaRPr lang="en-US" sz="950" dirty="0"/>
          </a:p>
        </p:txBody>
      </p:sp>
      <p:sp>
        <p:nvSpPr>
          <p:cNvPr id="9" name="Shape 7"/>
          <p:cNvSpPr/>
          <p:nvPr/>
        </p:nvSpPr>
        <p:spPr>
          <a:xfrm>
            <a:off x="5623560" y="1755648"/>
            <a:ext cx="3200400" cy="713232"/>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0" name="Text 8"/>
          <p:cNvSpPr/>
          <p:nvPr/>
        </p:nvSpPr>
        <p:spPr>
          <a:xfrm>
            <a:off x="5742432" y="1801368"/>
            <a:ext cx="2971800" cy="256032"/>
          </a:xfrm>
          <a:prstGeom prst="rect">
            <a:avLst/>
          </a:prstGeom>
          <a:noFill/>
          <a:ln/>
        </p:spPr>
        <p:txBody>
          <a:bodyPr wrap="square" lIns="0" tIns="0" rIns="0" bIns="0" rtlCol="0" anchor="ctr"/>
          <a:lstStyle/>
          <a:p>
            <a:pPr marL="0" indent="0">
              <a:buNone/>
            </a:pPr>
            <a:r>
              <a:rPr lang="en-US" sz="1000" b="1" dirty="0">
                <a:solidFill>
                  <a:srgbClr val="00B4D8"/>
                </a:solidFill>
                <a:latin typeface="Consolas" pitchFamily="34" charset="0"/>
                <a:ea typeface="Consolas" pitchFamily="34" charset="-122"/>
                <a:cs typeface="Consolas" pitchFamily="34" charset="-120"/>
              </a:rPr>
              <a:t>Ownable</a:t>
            </a:r>
            <a:endParaRPr lang="en-US" sz="1000" dirty="0"/>
          </a:p>
        </p:txBody>
      </p:sp>
      <p:sp>
        <p:nvSpPr>
          <p:cNvPr id="11" name="Text 9"/>
          <p:cNvSpPr/>
          <p:nvPr/>
        </p:nvSpPr>
        <p:spPr>
          <a:xfrm>
            <a:off x="5742432" y="2075688"/>
            <a:ext cx="2926080" cy="347472"/>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Solo el creador del contrato puede ejecutar funciones especiales (mintear)</a:t>
            </a:r>
            <a:endParaRPr lang="en-US" sz="950" dirty="0"/>
          </a:p>
        </p:txBody>
      </p:sp>
      <p:sp>
        <p:nvSpPr>
          <p:cNvPr id="12" name="Shape 10"/>
          <p:cNvSpPr/>
          <p:nvPr/>
        </p:nvSpPr>
        <p:spPr>
          <a:xfrm>
            <a:off x="5623560" y="2523744"/>
            <a:ext cx="3200400" cy="713232"/>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3" name="Text 11"/>
          <p:cNvSpPr/>
          <p:nvPr/>
        </p:nvSpPr>
        <p:spPr>
          <a:xfrm>
            <a:off x="5742432" y="2569464"/>
            <a:ext cx="2971800" cy="256032"/>
          </a:xfrm>
          <a:prstGeom prst="rect">
            <a:avLst/>
          </a:prstGeom>
          <a:noFill/>
          <a:ln/>
        </p:spPr>
        <p:txBody>
          <a:bodyPr wrap="square" lIns="0" tIns="0" rIns="0" bIns="0" rtlCol="0" anchor="ctr"/>
          <a:lstStyle/>
          <a:p>
            <a:pPr marL="0" indent="0">
              <a:buNone/>
            </a:pPr>
            <a:r>
              <a:rPr lang="en-US" sz="1000" b="1" dirty="0">
                <a:solidFill>
                  <a:srgbClr val="00B4D8"/>
                </a:solidFill>
                <a:latin typeface="Consolas" pitchFamily="34" charset="0"/>
                <a:ea typeface="Consolas" pitchFamily="34" charset="-122"/>
                <a:cs typeface="Consolas" pitchFamily="34" charset="-120"/>
              </a:rPr>
              <a:t>IERC20</a:t>
            </a:r>
            <a:endParaRPr lang="en-US" sz="1000" dirty="0"/>
          </a:p>
        </p:txBody>
      </p:sp>
      <p:sp>
        <p:nvSpPr>
          <p:cNvPr id="14" name="Text 12"/>
          <p:cNvSpPr/>
          <p:nvPr/>
        </p:nvSpPr>
        <p:spPr>
          <a:xfrm>
            <a:off x="5742432" y="2843784"/>
            <a:ext cx="2926080" cy="347472"/>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Permite que los NFTs se compren con un token ERC-20 (como si fueran créditos)</a:t>
            </a:r>
            <a:endParaRPr lang="en-US" sz="950" dirty="0"/>
          </a:p>
        </p:txBody>
      </p:sp>
      <p:sp>
        <p:nvSpPr>
          <p:cNvPr id="15" name="Shape 13"/>
          <p:cNvSpPr/>
          <p:nvPr/>
        </p:nvSpPr>
        <p:spPr>
          <a:xfrm>
            <a:off x="5623560" y="3291840"/>
            <a:ext cx="3200400" cy="713232"/>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6" name="Text 14"/>
          <p:cNvSpPr/>
          <p:nvPr/>
        </p:nvSpPr>
        <p:spPr>
          <a:xfrm>
            <a:off x="5742432" y="3337560"/>
            <a:ext cx="2971800" cy="256032"/>
          </a:xfrm>
          <a:prstGeom prst="rect">
            <a:avLst/>
          </a:prstGeom>
          <a:noFill/>
          <a:ln/>
        </p:spPr>
        <p:txBody>
          <a:bodyPr wrap="square" lIns="0" tIns="0" rIns="0" bIns="0" rtlCol="0" anchor="ctr"/>
          <a:lstStyle/>
          <a:p>
            <a:pPr marL="0" indent="0">
              <a:buNone/>
            </a:pPr>
            <a:r>
              <a:rPr lang="en-US" sz="1000" b="1" dirty="0">
                <a:solidFill>
                  <a:srgbClr val="00B4D8"/>
                </a:solidFill>
                <a:latin typeface="Consolas" pitchFamily="34" charset="0"/>
                <a:ea typeface="Consolas" pitchFamily="34" charset="-122"/>
                <a:cs typeface="Consolas" pitchFamily="34" charset="-120"/>
              </a:rPr>
              <a:t>nextTokenId</a:t>
            </a:r>
            <a:endParaRPr lang="en-US" sz="1000" dirty="0"/>
          </a:p>
        </p:txBody>
      </p:sp>
      <p:sp>
        <p:nvSpPr>
          <p:cNvPr id="17" name="Text 15"/>
          <p:cNvSpPr/>
          <p:nvPr/>
        </p:nvSpPr>
        <p:spPr>
          <a:xfrm>
            <a:off x="5742432" y="3611880"/>
            <a:ext cx="2926080" cy="347472"/>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Contador: cada nuevo NFT recibe el siguiente número (0, 1, 2…)</a:t>
            </a:r>
            <a:endParaRPr lang="en-US" sz="950" dirty="0"/>
          </a:p>
        </p:txBody>
      </p:sp>
      <p:sp>
        <p:nvSpPr>
          <p:cNvPr id="18" name="Shape 16"/>
          <p:cNvSpPr/>
          <p:nvPr/>
        </p:nvSpPr>
        <p:spPr>
          <a:xfrm>
            <a:off x="5623560" y="4059936"/>
            <a:ext cx="3200400" cy="713232"/>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9" name="Text 17"/>
          <p:cNvSpPr/>
          <p:nvPr/>
        </p:nvSpPr>
        <p:spPr>
          <a:xfrm>
            <a:off x="5742432" y="4105656"/>
            <a:ext cx="2971800" cy="256032"/>
          </a:xfrm>
          <a:prstGeom prst="rect">
            <a:avLst/>
          </a:prstGeom>
          <a:noFill/>
          <a:ln/>
        </p:spPr>
        <p:txBody>
          <a:bodyPr wrap="square" lIns="0" tIns="0" rIns="0" bIns="0" rtlCol="0" anchor="ctr"/>
          <a:lstStyle/>
          <a:p>
            <a:pPr marL="0" indent="0">
              <a:buNone/>
            </a:pPr>
            <a:r>
              <a:rPr lang="en-US" sz="1000" b="1" dirty="0">
                <a:solidFill>
                  <a:srgbClr val="00B4D8"/>
                </a:solidFill>
                <a:latin typeface="Consolas" pitchFamily="34" charset="0"/>
                <a:ea typeface="Consolas" pitchFamily="34" charset="-122"/>
                <a:cs typeface="Consolas" pitchFamily="34" charset="-120"/>
              </a:rPr>
              <a:t>Sale / sales</a:t>
            </a:r>
            <a:endParaRPr lang="en-US" sz="1000" dirty="0"/>
          </a:p>
        </p:txBody>
      </p:sp>
      <p:sp>
        <p:nvSpPr>
          <p:cNvPr id="20" name="Text 18"/>
          <p:cNvSpPr/>
          <p:nvPr/>
        </p:nvSpPr>
        <p:spPr>
          <a:xfrm>
            <a:off x="5742432" y="4379976"/>
            <a:ext cx="2926080" cy="347472"/>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Estructura y mapa para gestionar precios y ventas de cada NFT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6FB"/>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0D1B2A"/>
                </a:solidFill>
                <a:latin typeface="Georgia" pitchFamily="34" charset="0"/>
                <a:ea typeface="Georgia" pitchFamily="34" charset="-122"/>
                <a:cs typeface="Georgia" pitchFamily="34" charset="-120"/>
              </a:rPr>
              <a:t>Smart Contract: Funciones Principales</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4114800" cy="11430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320040" y="1005840"/>
            <a:ext cx="91440" cy="1143000"/>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484632" y="1078992"/>
            <a:ext cx="3886200" cy="292608"/>
          </a:xfrm>
          <a:prstGeom prst="rect">
            <a:avLst/>
          </a:prstGeom>
          <a:noFill/>
          <a:ln/>
        </p:spPr>
        <p:txBody>
          <a:bodyPr wrap="square" lIns="0" tIns="0" rIns="0" bIns="0" rtlCol="0" anchor="ctr"/>
          <a:lstStyle/>
          <a:p>
            <a:pPr marL="0" indent="0">
              <a:buNone/>
            </a:pPr>
            <a:r>
              <a:rPr lang="en-US" sz="950" b="1" dirty="0">
                <a:solidFill>
                  <a:srgbClr val="00B4D8"/>
                </a:solidFill>
                <a:latin typeface="Consolas" pitchFamily="34" charset="0"/>
                <a:ea typeface="Consolas" pitchFamily="34" charset="-122"/>
                <a:cs typeface="Consolas" pitchFamily="34" charset="-120"/>
              </a:rPr>
              <a:t>constructor(address _token)</a:t>
            </a:r>
            <a:endParaRPr lang="en-US" sz="950" dirty="0"/>
          </a:p>
        </p:txBody>
      </p:sp>
      <p:sp>
        <p:nvSpPr>
          <p:cNvPr id="7" name="Text 5"/>
          <p:cNvSpPr/>
          <p:nvPr/>
        </p:nvSpPr>
        <p:spPr>
          <a:xfrm>
            <a:off x="484632" y="1389888"/>
            <a:ext cx="3858768" cy="713232"/>
          </a:xfrm>
          <a:prstGeom prst="rect">
            <a:avLst/>
          </a:prstGeom>
          <a:noFill/>
          <a:ln/>
        </p:spPr>
        <p:txBody>
          <a:bodyPr wrap="square" lIns="0" tIns="0" rIns="0" bIns="0" rtlCol="0" anchor="t"/>
          <a:lstStyle/>
          <a:p>
            <a:pPr marL="0" indent="0">
              <a:buNone/>
            </a:pPr>
            <a:r>
              <a:rPr lang="en-US" sz="1050" dirty="0">
                <a:solidFill>
                  <a:srgbClr val="0D1B2A"/>
                </a:solidFill>
                <a:latin typeface="Calibri" pitchFamily="34" charset="0"/>
                <a:ea typeface="Calibri" pitchFamily="34" charset="-122"/>
                <a:cs typeface="Calibri" pitchFamily="34" charset="-120"/>
              </a:rPr>
              <a:t>Se ejecuta UNA sola vez al desplegar. Recibe la dirección del token ERC-20 que se usará para pagar. Inicializa el NFT con nombre 'ChessNFT' y símbolo 'CHESS'.</a:t>
            </a:r>
            <a:endParaRPr lang="en-US" sz="1050" dirty="0"/>
          </a:p>
        </p:txBody>
      </p:sp>
      <p:sp>
        <p:nvSpPr>
          <p:cNvPr id="8" name="Shape 6"/>
          <p:cNvSpPr/>
          <p:nvPr/>
        </p:nvSpPr>
        <p:spPr>
          <a:xfrm>
            <a:off x="320040" y="2267712"/>
            <a:ext cx="4114800" cy="11430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320040" y="2267712"/>
            <a:ext cx="91440" cy="1143000"/>
          </a:xfrm>
          <a:prstGeom prst="rect">
            <a:avLst/>
          </a:prstGeom>
          <a:solidFill>
            <a:srgbClr val="10B981"/>
          </a:solidFill>
          <a:ln w="12700">
            <a:solidFill>
              <a:srgbClr val="10B981"/>
            </a:solidFill>
            <a:prstDash val="solid"/>
          </a:ln>
        </p:spPr>
        <p:txBody>
          <a:bodyPr/>
          <a:lstStyle/>
          <a:p>
            <a:endParaRPr lang="en-US"/>
          </a:p>
        </p:txBody>
      </p:sp>
      <p:sp>
        <p:nvSpPr>
          <p:cNvPr id="10" name="Text 8"/>
          <p:cNvSpPr/>
          <p:nvPr/>
        </p:nvSpPr>
        <p:spPr>
          <a:xfrm>
            <a:off x="484632" y="2340864"/>
            <a:ext cx="3886200" cy="292608"/>
          </a:xfrm>
          <a:prstGeom prst="rect">
            <a:avLst/>
          </a:prstGeom>
          <a:noFill/>
          <a:ln/>
        </p:spPr>
        <p:txBody>
          <a:bodyPr wrap="square" lIns="0" tIns="0" rIns="0" bIns="0" rtlCol="0" anchor="ctr"/>
          <a:lstStyle/>
          <a:p>
            <a:pPr marL="0" indent="0">
              <a:buNone/>
            </a:pPr>
            <a:r>
              <a:rPr lang="en-US" sz="950" b="1" dirty="0">
                <a:solidFill>
                  <a:srgbClr val="10B981"/>
                </a:solidFill>
                <a:latin typeface="Consolas" pitchFamily="34" charset="0"/>
                <a:ea typeface="Consolas" pitchFamily="34" charset="-122"/>
                <a:cs typeface="Consolas" pitchFamily="34" charset="-120"/>
              </a:rPr>
              <a:t>mintGame(string memory tokenURI)</a:t>
            </a:r>
            <a:endParaRPr lang="en-US" sz="950" dirty="0"/>
          </a:p>
        </p:txBody>
      </p:sp>
      <p:sp>
        <p:nvSpPr>
          <p:cNvPr id="11" name="Text 9"/>
          <p:cNvSpPr/>
          <p:nvPr/>
        </p:nvSpPr>
        <p:spPr>
          <a:xfrm>
            <a:off x="484632" y="2651760"/>
            <a:ext cx="3858768" cy="713232"/>
          </a:xfrm>
          <a:prstGeom prst="rect">
            <a:avLst/>
          </a:prstGeom>
          <a:noFill/>
          <a:ln/>
        </p:spPr>
        <p:txBody>
          <a:bodyPr wrap="square" lIns="0" tIns="0" rIns="0" bIns="0" rtlCol="0" anchor="t"/>
          <a:lstStyle/>
          <a:p>
            <a:pPr marL="0" indent="0">
              <a:buNone/>
            </a:pPr>
            <a:r>
              <a:rPr lang="en-US" sz="1050" dirty="0">
                <a:solidFill>
                  <a:srgbClr val="0D1B2A"/>
                </a:solidFill>
                <a:latin typeface="Calibri" pitchFamily="34" charset="0"/>
                <a:ea typeface="Calibri" pitchFamily="34" charset="-122"/>
                <a:cs typeface="Calibri" pitchFamily="34" charset="-120"/>
              </a:rPr>
              <a:t>Crea un nuevo NFT. Asigna el nextTokenId al dueño (owner). Guarda el CID de IPFS como URI del token. Incrementa el contador para el próximo.</a:t>
            </a:r>
            <a:endParaRPr lang="en-US" sz="1050" dirty="0"/>
          </a:p>
        </p:txBody>
      </p:sp>
      <p:sp>
        <p:nvSpPr>
          <p:cNvPr id="12" name="Shape 10"/>
          <p:cNvSpPr/>
          <p:nvPr/>
        </p:nvSpPr>
        <p:spPr>
          <a:xfrm>
            <a:off x="320040" y="3529584"/>
            <a:ext cx="4114800" cy="11430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320040" y="3529584"/>
            <a:ext cx="91440" cy="114300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484632" y="3602736"/>
            <a:ext cx="3886200" cy="292608"/>
          </a:xfrm>
          <a:prstGeom prst="rect">
            <a:avLst/>
          </a:prstGeom>
          <a:noFill/>
          <a:ln/>
        </p:spPr>
        <p:txBody>
          <a:bodyPr wrap="square" lIns="0" tIns="0" rIns="0" bIns="0" rtlCol="0" anchor="ctr"/>
          <a:lstStyle/>
          <a:p>
            <a:pPr marL="0" indent="0">
              <a:buNone/>
            </a:pPr>
            <a:r>
              <a:rPr lang="en-US" sz="950" b="1" dirty="0">
                <a:solidFill>
                  <a:srgbClr val="F59E0B"/>
                </a:solidFill>
                <a:latin typeface="Consolas" pitchFamily="34" charset="0"/>
                <a:ea typeface="Consolas" pitchFamily="34" charset="-122"/>
                <a:cs typeface="Consolas" pitchFamily="34" charset="-120"/>
              </a:rPr>
              <a:t>putOnSale(uint256 tokenId, uint256 price)</a:t>
            </a:r>
            <a:endParaRPr lang="en-US" sz="950" dirty="0"/>
          </a:p>
        </p:txBody>
      </p:sp>
      <p:sp>
        <p:nvSpPr>
          <p:cNvPr id="15" name="Text 13"/>
          <p:cNvSpPr/>
          <p:nvPr/>
        </p:nvSpPr>
        <p:spPr>
          <a:xfrm>
            <a:off x="484632" y="3913632"/>
            <a:ext cx="3858768" cy="713232"/>
          </a:xfrm>
          <a:prstGeom prst="rect">
            <a:avLst/>
          </a:prstGeom>
          <a:noFill/>
          <a:ln/>
        </p:spPr>
        <p:txBody>
          <a:bodyPr wrap="square" lIns="0" tIns="0" rIns="0" bIns="0" rtlCol="0" anchor="t"/>
          <a:lstStyle/>
          <a:p>
            <a:pPr marL="0" indent="0">
              <a:buNone/>
            </a:pPr>
            <a:r>
              <a:rPr lang="en-US" sz="1050" dirty="0">
                <a:solidFill>
                  <a:srgbClr val="0D1B2A"/>
                </a:solidFill>
                <a:latin typeface="Calibri" pitchFamily="34" charset="0"/>
                <a:ea typeface="Calibri" pitchFamily="34" charset="-122"/>
                <a:cs typeface="Calibri" pitchFamily="34" charset="-120"/>
              </a:rPr>
              <a:t>Coloca un NFT en venta. El dueño indica el tokenId y el precio en tokens ERC-20. Activa la venta en el mapping sales.</a:t>
            </a:r>
            <a:endParaRPr lang="en-US" sz="1050" dirty="0"/>
          </a:p>
        </p:txBody>
      </p:sp>
      <p:sp>
        <p:nvSpPr>
          <p:cNvPr id="16" name="Shape 14"/>
          <p:cNvSpPr/>
          <p:nvPr/>
        </p:nvSpPr>
        <p:spPr>
          <a:xfrm>
            <a:off x="4663440" y="1005840"/>
            <a:ext cx="4114800" cy="11430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663440" y="1005840"/>
            <a:ext cx="91440" cy="1143000"/>
          </a:xfrm>
          <a:prstGeom prst="rect">
            <a:avLst/>
          </a:prstGeom>
          <a:solidFill>
            <a:srgbClr val="0077A8"/>
          </a:solidFill>
          <a:ln w="12700">
            <a:solidFill>
              <a:srgbClr val="0077A8"/>
            </a:solidFill>
            <a:prstDash val="solid"/>
          </a:ln>
        </p:spPr>
        <p:txBody>
          <a:bodyPr/>
          <a:lstStyle/>
          <a:p>
            <a:endParaRPr lang="en-US"/>
          </a:p>
        </p:txBody>
      </p:sp>
      <p:sp>
        <p:nvSpPr>
          <p:cNvPr id="18" name="Text 16"/>
          <p:cNvSpPr/>
          <p:nvPr/>
        </p:nvSpPr>
        <p:spPr>
          <a:xfrm>
            <a:off x="4828032" y="1078992"/>
            <a:ext cx="3886200" cy="292608"/>
          </a:xfrm>
          <a:prstGeom prst="rect">
            <a:avLst/>
          </a:prstGeom>
          <a:noFill/>
          <a:ln/>
        </p:spPr>
        <p:txBody>
          <a:bodyPr wrap="square" lIns="0" tIns="0" rIns="0" bIns="0" rtlCol="0" anchor="ctr"/>
          <a:lstStyle/>
          <a:p>
            <a:pPr marL="0" indent="0">
              <a:buNone/>
            </a:pPr>
            <a:r>
              <a:rPr lang="en-US" sz="950" b="1" dirty="0">
                <a:solidFill>
                  <a:srgbClr val="0077A8"/>
                </a:solidFill>
                <a:latin typeface="Consolas" pitchFamily="34" charset="0"/>
                <a:ea typeface="Consolas" pitchFamily="34" charset="-122"/>
                <a:cs typeface="Consolas" pitchFamily="34" charset="-120"/>
              </a:rPr>
              <a:t>getSaleInfo(uint256 tokenId)</a:t>
            </a:r>
            <a:endParaRPr lang="en-US" sz="950" dirty="0"/>
          </a:p>
        </p:txBody>
      </p:sp>
      <p:sp>
        <p:nvSpPr>
          <p:cNvPr id="19" name="Text 17"/>
          <p:cNvSpPr/>
          <p:nvPr/>
        </p:nvSpPr>
        <p:spPr>
          <a:xfrm>
            <a:off x="4828032" y="1389888"/>
            <a:ext cx="3858768" cy="713232"/>
          </a:xfrm>
          <a:prstGeom prst="rect">
            <a:avLst/>
          </a:prstGeom>
          <a:noFill/>
          <a:ln/>
        </p:spPr>
        <p:txBody>
          <a:bodyPr wrap="square" lIns="0" tIns="0" rIns="0" bIns="0" rtlCol="0" anchor="t"/>
          <a:lstStyle/>
          <a:p>
            <a:pPr marL="0" indent="0">
              <a:buNone/>
            </a:pPr>
            <a:r>
              <a:rPr lang="en-US" sz="1050" dirty="0">
                <a:solidFill>
                  <a:srgbClr val="0D1B2A"/>
                </a:solidFill>
                <a:latin typeface="Calibri" pitchFamily="34" charset="0"/>
                <a:ea typeface="Calibri" pitchFamily="34" charset="-122"/>
                <a:cs typeface="Calibri" pitchFamily="34" charset="-120"/>
              </a:rPr>
              <a:t>Consulta si un NFT está en venta, quién lo vende y a qué precio. Es una función de solo lectura (no gasta gas).</a:t>
            </a:r>
            <a:endParaRPr lang="en-US" sz="1050" dirty="0"/>
          </a:p>
        </p:txBody>
      </p:sp>
      <p:sp>
        <p:nvSpPr>
          <p:cNvPr id="20" name="Shape 18"/>
          <p:cNvSpPr/>
          <p:nvPr/>
        </p:nvSpPr>
        <p:spPr>
          <a:xfrm>
            <a:off x="4663440" y="2267712"/>
            <a:ext cx="4114800" cy="11430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4663440" y="2267712"/>
            <a:ext cx="91440" cy="1143000"/>
          </a:xfrm>
          <a:prstGeom prst="rect">
            <a:avLst/>
          </a:prstGeom>
          <a:solidFill>
            <a:srgbClr val="E05C5C"/>
          </a:solidFill>
          <a:ln w="12700">
            <a:solidFill>
              <a:srgbClr val="E05C5C"/>
            </a:solidFill>
            <a:prstDash val="solid"/>
          </a:ln>
        </p:spPr>
        <p:txBody>
          <a:bodyPr/>
          <a:lstStyle/>
          <a:p>
            <a:endParaRPr lang="en-US"/>
          </a:p>
        </p:txBody>
      </p:sp>
      <p:sp>
        <p:nvSpPr>
          <p:cNvPr id="22" name="Text 20"/>
          <p:cNvSpPr/>
          <p:nvPr/>
        </p:nvSpPr>
        <p:spPr>
          <a:xfrm>
            <a:off x="4828032" y="2340864"/>
            <a:ext cx="3886200" cy="292608"/>
          </a:xfrm>
          <a:prstGeom prst="rect">
            <a:avLst/>
          </a:prstGeom>
          <a:noFill/>
          <a:ln/>
        </p:spPr>
        <p:txBody>
          <a:bodyPr wrap="square" lIns="0" tIns="0" rIns="0" bIns="0" rtlCol="0" anchor="ctr"/>
          <a:lstStyle/>
          <a:p>
            <a:pPr marL="0" indent="0">
              <a:buNone/>
            </a:pPr>
            <a:r>
              <a:rPr lang="en-US" sz="950" b="1" dirty="0">
                <a:solidFill>
                  <a:srgbClr val="E05C5C"/>
                </a:solidFill>
                <a:latin typeface="Consolas" pitchFamily="34" charset="0"/>
                <a:ea typeface="Consolas" pitchFamily="34" charset="-122"/>
                <a:cs typeface="Consolas" pitchFamily="34" charset="-120"/>
              </a:rPr>
              <a:t>buyNFT(uint256 tokenId)</a:t>
            </a:r>
            <a:endParaRPr lang="en-US" sz="950" dirty="0"/>
          </a:p>
        </p:txBody>
      </p:sp>
      <p:sp>
        <p:nvSpPr>
          <p:cNvPr id="23" name="Text 21"/>
          <p:cNvSpPr/>
          <p:nvPr/>
        </p:nvSpPr>
        <p:spPr>
          <a:xfrm>
            <a:off x="4828032" y="2651760"/>
            <a:ext cx="3858768" cy="713232"/>
          </a:xfrm>
          <a:prstGeom prst="rect">
            <a:avLst/>
          </a:prstGeom>
          <a:noFill/>
          <a:ln/>
        </p:spPr>
        <p:txBody>
          <a:bodyPr wrap="square" lIns="0" tIns="0" rIns="0" bIns="0" rtlCol="0" anchor="t"/>
          <a:lstStyle/>
          <a:p>
            <a:pPr marL="0" indent="0">
              <a:buNone/>
            </a:pPr>
            <a:r>
              <a:rPr lang="en-US" sz="1050" dirty="0">
                <a:solidFill>
                  <a:srgbClr val="0D1B2A"/>
                </a:solidFill>
                <a:latin typeface="Calibri" pitchFamily="34" charset="0"/>
                <a:ea typeface="Calibri" pitchFamily="34" charset="-122"/>
                <a:cs typeface="Calibri" pitchFamily="34" charset="-120"/>
              </a:rPr>
              <a:t>Compra el NFT. El comprador transfiere los tokens ERC-20 al vendedor. El contrato transfiere la propiedad del NFT al comprador automáticamente.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Compilación y Despliegue en Sepolia</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2788920" cy="1801368"/>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411480" y="1097280"/>
            <a:ext cx="457200" cy="457200"/>
          </a:xfrm>
          <a:prstGeom prst="ellipse">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411480" y="1097280"/>
            <a:ext cx="457200" cy="457200"/>
          </a:xfrm>
          <a:prstGeom prst="rect">
            <a:avLst/>
          </a:prstGeom>
          <a:noFill/>
          <a:ln/>
        </p:spPr>
        <p:txBody>
          <a:bodyPr wrap="square" lIns="0" tIns="0" rIns="0" bIns="0" rtlCol="0" anchor="ctr"/>
          <a:lstStyle/>
          <a:p>
            <a:pPr marL="0" indent="0" algn="ctr">
              <a:buNone/>
            </a:pPr>
            <a:r>
              <a:rPr lang="en-US" sz="1300" b="1" dirty="0">
                <a:solidFill>
                  <a:srgbClr val="0D1B2A"/>
                </a:solidFill>
                <a:latin typeface="Georgia" pitchFamily="34" charset="0"/>
                <a:ea typeface="Georgia" pitchFamily="34" charset="-122"/>
                <a:cs typeface="Georgia" pitchFamily="34" charset="-120"/>
              </a:rPr>
              <a:t>1</a:t>
            </a:r>
            <a:endParaRPr lang="en-US" sz="1300" dirty="0"/>
          </a:p>
        </p:txBody>
      </p:sp>
      <p:sp>
        <p:nvSpPr>
          <p:cNvPr id="7" name="Text 5"/>
          <p:cNvSpPr/>
          <p:nvPr/>
        </p:nvSpPr>
        <p:spPr>
          <a:xfrm>
            <a:off x="960120" y="1133856"/>
            <a:ext cx="2057400" cy="347472"/>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Remix IDE</a:t>
            </a:r>
            <a:endParaRPr lang="en-US" sz="1200" dirty="0"/>
          </a:p>
        </p:txBody>
      </p:sp>
      <p:sp>
        <p:nvSpPr>
          <p:cNvPr id="8" name="Text 6"/>
          <p:cNvSpPr/>
          <p:nvPr/>
        </p:nvSpPr>
        <p:spPr>
          <a:xfrm>
            <a:off x="411480" y="1600200"/>
            <a:ext cx="2606040" cy="1115568"/>
          </a:xfrm>
          <a:prstGeom prst="rect">
            <a:avLst/>
          </a:prstGeom>
          <a:noFill/>
          <a:ln/>
        </p:spPr>
        <p:txBody>
          <a:bodyPr wrap="square" lIns="0" tIns="50800" rIns="50800" bIns="50800" rtlCol="0" anchor="t"/>
          <a:lstStyle/>
          <a:p>
            <a:pPr marL="0" indent="0">
              <a:buNone/>
            </a:pPr>
            <a:r>
              <a:rPr lang="en-US" sz="1050" dirty="0">
                <a:solidFill>
                  <a:srgbClr val="FFFFFF"/>
                </a:solidFill>
                <a:latin typeface="Calibri" pitchFamily="34" charset="0"/>
                <a:ea typeface="Calibri" pitchFamily="34" charset="-122"/>
                <a:cs typeface="Calibri" pitchFamily="34" charset="-120"/>
              </a:rPr>
              <a:t>Editor web para Solidity en remix.ethereum.org. Sin instalación, gratuito, funciona en el navegador.</a:t>
            </a:r>
            <a:endParaRPr lang="en-US" sz="1050" dirty="0"/>
          </a:p>
        </p:txBody>
      </p:sp>
      <p:sp>
        <p:nvSpPr>
          <p:cNvPr id="9" name="Shape 7"/>
          <p:cNvSpPr/>
          <p:nvPr/>
        </p:nvSpPr>
        <p:spPr>
          <a:xfrm>
            <a:off x="3246120" y="1005840"/>
            <a:ext cx="2788920" cy="1801368"/>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0" name="Shape 8"/>
          <p:cNvSpPr/>
          <p:nvPr/>
        </p:nvSpPr>
        <p:spPr>
          <a:xfrm>
            <a:off x="3337560" y="1097280"/>
            <a:ext cx="457200" cy="457200"/>
          </a:xfrm>
          <a:prstGeom prst="ellipse">
            <a:avLst/>
          </a:prstGeom>
          <a:solidFill>
            <a:srgbClr val="00B4D8"/>
          </a:solidFill>
          <a:ln w="12700">
            <a:solidFill>
              <a:srgbClr val="00B4D8"/>
            </a:solidFill>
            <a:prstDash val="solid"/>
          </a:ln>
        </p:spPr>
        <p:txBody>
          <a:bodyPr/>
          <a:lstStyle/>
          <a:p>
            <a:endParaRPr lang="en-US"/>
          </a:p>
        </p:txBody>
      </p:sp>
      <p:sp>
        <p:nvSpPr>
          <p:cNvPr id="11" name="Text 9"/>
          <p:cNvSpPr/>
          <p:nvPr/>
        </p:nvSpPr>
        <p:spPr>
          <a:xfrm>
            <a:off x="3337560" y="1097280"/>
            <a:ext cx="457200" cy="457200"/>
          </a:xfrm>
          <a:prstGeom prst="rect">
            <a:avLst/>
          </a:prstGeom>
          <a:noFill/>
          <a:ln/>
        </p:spPr>
        <p:txBody>
          <a:bodyPr wrap="square" lIns="0" tIns="0" rIns="0" bIns="0" rtlCol="0" anchor="ctr"/>
          <a:lstStyle/>
          <a:p>
            <a:pPr marL="0" indent="0" algn="ctr">
              <a:buNone/>
            </a:pPr>
            <a:r>
              <a:rPr lang="en-US" sz="1300" b="1" dirty="0">
                <a:solidFill>
                  <a:srgbClr val="0D1B2A"/>
                </a:solidFill>
                <a:latin typeface="Georgia" pitchFamily="34" charset="0"/>
                <a:ea typeface="Georgia" pitchFamily="34" charset="-122"/>
                <a:cs typeface="Georgia" pitchFamily="34" charset="-120"/>
              </a:rPr>
              <a:t>2</a:t>
            </a:r>
            <a:endParaRPr lang="en-US" sz="1300" dirty="0"/>
          </a:p>
        </p:txBody>
      </p:sp>
      <p:sp>
        <p:nvSpPr>
          <p:cNvPr id="12" name="Text 10"/>
          <p:cNvSpPr/>
          <p:nvPr/>
        </p:nvSpPr>
        <p:spPr>
          <a:xfrm>
            <a:off x="3886200" y="1133856"/>
            <a:ext cx="2057400" cy="347472"/>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Compilar el contrato</a:t>
            </a:r>
            <a:endParaRPr lang="en-US" sz="1200" dirty="0"/>
          </a:p>
        </p:txBody>
      </p:sp>
      <p:sp>
        <p:nvSpPr>
          <p:cNvPr id="13" name="Text 11"/>
          <p:cNvSpPr/>
          <p:nvPr/>
        </p:nvSpPr>
        <p:spPr>
          <a:xfrm>
            <a:off x="3337560" y="1600200"/>
            <a:ext cx="2606040" cy="1115568"/>
          </a:xfrm>
          <a:prstGeom prst="rect">
            <a:avLst/>
          </a:prstGeom>
          <a:noFill/>
          <a:ln/>
        </p:spPr>
        <p:txBody>
          <a:bodyPr wrap="square" lIns="0" tIns="50800" rIns="50800" bIns="50800" rtlCol="0" anchor="t"/>
          <a:lstStyle/>
          <a:p>
            <a:pPr marL="0" indent="0">
              <a:buNone/>
            </a:pPr>
            <a:r>
              <a:rPr lang="en-US" sz="1050" dirty="0">
                <a:solidFill>
                  <a:srgbClr val="FFFFFF"/>
                </a:solidFill>
                <a:latin typeface="Calibri" pitchFamily="34" charset="0"/>
                <a:ea typeface="Calibri" pitchFamily="34" charset="-122"/>
                <a:cs typeface="Calibri" pitchFamily="34" charset="-120"/>
              </a:rPr>
              <a:t>Remix compila el código Solidity y detecta errores. Genera el ABI (interfaz del contrato).</a:t>
            </a:r>
            <a:endParaRPr lang="en-US" sz="1050" dirty="0"/>
          </a:p>
        </p:txBody>
      </p:sp>
      <p:sp>
        <p:nvSpPr>
          <p:cNvPr id="14" name="Shape 12"/>
          <p:cNvSpPr/>
          <p:nvPr/>
        </p:nvSpPr>
        <p:spPr>
          <a:xfrm>
            <a:off x="6172200" y="1005840"/>
            <a:ext cx="2788920" cy="1801368"/>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5" name="Shape 13"/>
          <p:cNvSpPr/>
          <p:nvPr/>
        </p:nvSpPr>
        <p:spPr>
          <a:xfrm>
            <a:off x="6263640" y="1097280"/>
            <a:ext cx="457200" cy="457200"/>
          </a:xfrm>
          <a:prstGeom prst="ellipse">
            <a:avLst/>
          </a:prstGeom>
          <a:solidFill>
            <a:srgbClr val="00B4D8"/>
          </a:solidFill>
          <a:ln w="12700">
            <a:solidFill>
              <a:srgbClr val="00B4D8"/>
            </a:solidFill>
            <a:prstDash val="solid"/>
          </a:ln>
        </p:spPr>
        <p:txBody>
          <a:bodyPr/>
          <a:lstStyle/>
          <a:p>
            <a:endParaRPr lang="en-US"/>
          </a:p>
        </p:txBody>
      </p:sp>
      <p:sp>
        <p:nvSpPr>
          <p:cNvPr id="16" name="Text 14"/>
          <p:cNvSpPr/>
          <p:nvPr/>
        </p:nvSpPr>
        <p:spPr>
          <a:xfrm>
            <a:off x="6263640" y="1097280"/>
            <a:ext cx="457200" cy="457200"/>
          </a:xfrm>
          <a:prstGeom prst="rect">
            <a:avLst/>
          </a:prstGeom>
          <a:noFill/>
          <a:ln/>
        </p:spPr>
        <p:txBody>
          <a:bodyPr wrap="square" lIns="0" tIns="0" rIns="0" bIns="0" rtlCol="0" anchor="ctr"/>
          <a:lstStyle/>
          <a:p>
            <a:pPr marL="0" indent="0" algn="ctr">
              <a:buNone/>
            </a:pPr>
            <a:r>
              <a:rPr lang="en-US" sz="1300" b="1" dirty="0">
                <a:solidFill>
                  <a:srgbClr val="0D1B2A"/>
                </a:solidFill>
                <a:latin typeface="Georgia" pitchFamily="34" charset="0"/>
                <a:ea typeface="Georgia" pitchFamily="34" charset="-122"/>
                <a:cs typeface="Georgia" pitchFamily="34" charset="-120"/>
              </a:rPr>
              <a:t>3</a:t>
            </a:r>
            <a:endParaRPr lang="en-US" sz="1300" dirty="0"/>
          </a:p>
        </p:txBody>
      </p:sp>
      <p:sp>
        <p:nvSpPr>
          <p:cNvPr id="17" name="Text 15"/>
          <p:cNvSpPr/>
          <p:nvPr/>
        </p:nvSpPr>
        <p:spPr>
          <a:xfrm>
            <a:off x="6812280" y="1133856"/>
            <a:ext cx="2057400" cy="347472"/>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¿Qué es el ABI?</a:t>
            </a:r>
            <a:endParaRPr lang="en-US" sz="1200" dirty="0"/>
          </a:p>
        </p:txBody>
      </p:sp>
      <p:sp>
        <p:nvSpPr>
          <p:cNvPr id="18" name="Text 16"/>
          <p:cNvSpPr/>
          <p:nvPr/>
        </p:nvSpPr>
        <p:spPr>
          <a:xfrm>
            <a:off x="6263640" y="1600200"/>
            <a:ext cx="2606040" cy="1115568"/>
          </a:xfrm>
          <a:prstGeom prst="rect">
            <a:avLst/>
          </a:prstGeom>
          <a:noFill/>
          <a:ln/>
        </p:spPr>
        <p:txBody>
          <a:bodyPr wrap="square" lIns="0" tIns="50800" rIns="50800" bIns="50800" rtlCol="0" anchor="t"/>
          <a:lstStyle/>
          <a:p>
            <a:pPr marL="0" indent="0">
              <a:buNone/>
            </a:pPr>
            <a:r>
              <a:rPr lang="en-US" sz="1050" dirty="0">
                <a:solidFill>
                  <a:srgbClr val="FFFFFF"/>
                </a:solidFill>
                <a:latin typeface="Calibri" pitchFamily="34" charset="0"/>
                <a:ea typeface="Calibri" pitchFamily="34" charset="-122"/>
                <a:cs typeface="Calibri" pitchFamily="34" charset="-120"/>
              </a:rPr>
              <a:t>Application Binary Interface: lista de todas las funciones disponibles. Es como el manual de instrucciones del contrato.</a:t>
            </a:r>
            <a:endParaRPr lang="en-US" sz="1050" dirty="0"/>
          </a:p>
        </p:txBody>
      </p:sp>
      <p:sp>
        <p:nvSpPr>
          <p:cNvPr id="19" name="Shape 17"/>
          <p:cNvSpPr/>
          <p:nvPr/>
        </p:nvSpPr>
        <p:spPr>
          <a:xfrm>
            <a:off x="320040" y="2971800"/>
            <a:ext cx="2788920" cy="1801368"/>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20" name="Shape 18"/>
          <p:cNvSpPr/>
          <p:nvPr/>
        </p:nvSpPr>
        <p:spPr>
          <a:xfrm>
            <a:off x="411480" y="3063240"/>
            <a:ext cx="457200" cy="457200"/>
          </a:xfrm>
          <a:prstGeom prst="ellipse">
            <a:avLst/>
          </a:prstGeom>
          <a:solidFill>
            <a:srgbClr val="00B4D8"/>
          </a:solidFill>
          <a:ln w="12700">
            <a:solidFill>
              <a:srgbClr val="00B4D8"/>
            </a:solidFill>
            <a:prstDash val="solid"/>
          </a:ln>
        </p:spPr>
        <p:txBody>
          <a:bodyPr/>
          <a:lstStyle/>
          <a:p>
            <a:endParaRPr lang="en-US"/>
          </a:p>
        </p:txBody>
      </p:sp>
      <p:sp>
        <p:nvSpPr>
          <p:cNvPr id="21" name="Text 19"/>
          <p:cNvSpPr/>
          <p:nvPr/>
        </p:nvSpPr>
        <p:spPr>
          <a:xfrm>
            <a:off x="411480" y="3063240"/>
            <a:ext cx="457200" cy="457200"/>
          </a:xfrm>
          <a:prstGeom prst="rect">
            <a:avLst/>
          </a:prstGeom>
          <a:noFill/>
          <a:ln/>
        </p:spPr>
        <p:txBody>
          <a:bodyPr wrap="square" lIns="0" tIns="0" rIns="0" bIns="0" rtlCol="0" anchor="ctr"/>
          <a:lstStyle/>
          <a:p>
            <a:pPr marL="0" indent="0" algn="ctr">
              <a:buNone/>
            </a:pPr>
            <a:r>
              <a:rPr lang="en-US" sz="1300" b="1" dirty="0">
                <a:solidFill>
                  <a:srgbClr val="0D1B2A"/>
                </a:solidFill>
                <a:latin typeface="Georgia" pitchFamily="34" charset="0"/>
                <a:ea typeface="Georgia" pitchFamily="34" charset="-122"/>
                <a:cs typeface="Georgia" pitchFamily="34" charset="-120"/>
              </a:rPr>
              <a:t>4</a:t>
            </a:r>
            <a:endParaRPr lang="en-US" sz="1300" dirty="0"/>
          </a:p>
        </p:txBody>
      </p:sp>
      <p:sp>
        <p:nvSpPr>
          <p:cNvPr id="22" name="Text 20"/>
          <p:cNvSpPr/>
          <p:nvPr/>
        </p:nvSpPr>
        <p:spPr>
          <a:xfrm>
            <a:off x="960120" y="3099816"/>
            <a:ext cx="2057400" cy="347472"/>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MetaMask</a:t>
            </a:r>
            <a:endParaRPr lang="en-US" sz="1200" dirty="0"/>
          </a:p>
        </p:txBody>
      </p:sp>
      <p:sp>
        <p:nvSpPr>
          <p:cNvPr id="23" name="Text 21"/>
          <p:cNvSpPr/>
          <p:nvPr/>
        </p:nvSpPr>
        <p:spPr>
          <a:xfrm>
            <a:off x="411480" y="3566160"/>
            <a:ext cx="2606040" cy="1115568"/>
          </a:xfrm>
          <a:prstGeom prst="rect">
            <a:avLst/>
          </a:prstGeom>
          <a:noFill/>
          <a:ln/>
        </p:spPr>
        <p:txBody>
          <a:bodyPr wrap="square" lIns="0" tIns="50800" rIns="50800" bIns="50800" rtlCol="0" anchor="t"/>
          <a:lstStyle/>
          <a:p>
            <a:pPr marL="0" indent="0">
              <a:buNone/>
            </a:pPr>
            <a:r>
              <a:rPr lang="en-US" sz="1050" dirty="0">
                <a:solidFill>
                  <a:srgbClr val="FFFFFF"/>
                </a:solidFill>
                <a:latin typeface="Calibri" pitchFamily="34" charset="0"/>
                <a:ea typeface="Calibri" pitchFamily="34" charset="-122"/>
                <a:cs typeface="Calibri" pitchFamily="34" charset="-120"/>
              </a:rPr>
              <a:t>Billetera digital en el navegador. Gestiona nuestra cuenta Ethereum y aprueba transacciones.</a:t>
            </a:r>
            <a:endParaRPr lang="en-US" sz="1050" dirty="0"/>
          </a:p>
        </p:txBody>
      </p:sp>
      <p:sp>
        <p:nvSpPr>
          <p:cNvPr id="24" name="Shape 22"/>
          <p:cNvSpPr/>
          <p:nvPr/>
        </p:nvSpPr>
        <p:spPr>
          <a:xfrm>
            <a:off x="3246120" y="2971800"/>
            <a:ext cx="2788920" cy="1801368"/>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3337560" y="3063240"/>
            <a:ext cx="457200" cy="457200"/>
          </a:xfrm>
          <a:prstGeom prst="ellipse">
            <a:avLst/>
          </a:prstGeom>
          <a:solidFill>
            <a:srgbClr val="00B4D8"/>
          </a:solidFill>
          <a:ln w="12700">
            <a:solidFill>
              <a:srgbClr val="00B4D8"/>
            </a:solidFill>
            <a:prstDash val="solid"/>
          </a:ln>
        </p:spPr>
        <p:txBody>
          <a:bodyPr/>
          <a:lstStyle/>
          <a:p>
            <a:endParaRPr lang="en-US"/>
          </a:p>
        </p:txBody>
      </p:sp>
      <p:sp>
        <p:nvSpPr>
          <p:cNvPr id="26" name="Text 24"/>
          <p:cNvSpPr/>
          <p:nvPr/>
        </p:nvSpPr>
        <p:spPr>
          <a:xfrm>
            <a:off x="3337560" y="3063240"/>
            <a:ext cx="457200" cy="457200"/>
          </a:xfrm>
          <a:prstGeom prst="rect">
            <a:avLst/>
          </a:prstGeom>
          <a:noFill/>
          <a:ln/>
        </p:spPr>
        <p:txBody>
          <a:bodyPr wrap="square" lIns="0" tIns="0" rIns="0" bIns="0" rtlCol="0" anchor="ctr"/>
          <a:lstStyle/>
          <a:p>
            <a:pPr marL="0" indent="0" algn="ctr">
              <a:buNone/>
            </a:pPr>
            <a:r>
              <a:rPr lang="en-US" sz="1300" b="1" dirty="0">
                <a:solidFill>
                  <a:srgbClr val="0D1B2A"/>
                </a:solidFill>
                <a:latin typeface="Georgia" pitchFamily="34" charset="0"/>
                <a:ea typeface="Georgia" pitchFamily="34" charset="-122"/>
                <a:cs typeface="Georgia" pitchFamily="34" charset="-120"/>
              </a:rPr>
              <a:t>5</a:t>
            </a:r>
            <a:endParaRPr lang="en-US" sz="1300" dirty="0"/>
          </a:p>
        </p:txBody>
      </p:sp>
      <p:sp>
        <p:nvSpPr>
          <p:cNvPr id="27" name="Text 25"/>
          <p:cNvSpPr/>
          <p:nvPr/>
        </p:nvSpPr>
        <p:spPr>
          <a:xfrm>
            <a:off x="3886200" y="3099816"/>
            <a:ext cx="2057400" cy="347472"/>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Red Sepolia</a:t>
            </a:r>
            <a:endParaRPr lang="en-US" sz="1200" dirty="0"/>
          </a:p>
        </p:txBody>
      </p:sp>
      <p:sp>
        <p:nvSpPr>
          <p:cNvPr id="28" name="Text 26"/>
          <p:cNvSpPr/>
          <p:nvPr/>
        </p:nvSpPr>
        <p:spPr>
          <a:xfrm>
            <a:off x="3337560" y="3566160"/>
            <a:ext cx="2606040" cy="1115568"/>
          </a:xfrm>
          <a:prstGeom prst="rect">
            <a:avLst/>
          </a:prstGeom>
          <a:noFill/>
          <a:ln/>
        </p:spPr>
        <p:txBody>
          <a:bodyPr wrap="square" lIns="0" tIns="50800" rIns="50800" bIns="50800" rtlCol="0" anchor="t"/>
          <a:lstStyle/>
          <a:p>
            <a:pPr marL="0" indent="0">
              <a:buNone/>
            </a:pPr>
            <a:r>
              <a:rPr lang="en-US" sz="1050" dirty="0">
                <a:solidFill>
                  <a:srgbClr val="FFFFFF"/>
                </a:solidFill>
                <a:latin typeface="Calibri" pitchFamily="34" charset="0"/>
                <a:ea typeface="Calibri" pitchFamily="34" charset="-122"/>
                <a:cs typeface="Calibri" pitchFamily="34" charset="-120"/>
              </a:rPr>
              <a:t>Red de prueba de Ethereum. Se obtienen ETH falsos gratis en un 'faucet'. Perfecta para experimentar sin riesgo.</a:t>
            </a:r>
            <a:endParaRPr lang="en-US" sz="1050" dirty="0"/>
          </a:p>
        </p:txBody>
      </p:sp>
      <p:sp>
        <p:nvSpPr>
          <p:cNvPr id="29" name="Shape 27"/>
          <p:cNvSpPr/>
          <p:nvPr/>
        </p:nvSpPr>
        <p:spPr>
          <a:xfrm>
            <a:off x="6172200" y="2971800"/>
            <a:ext cx="2788920" cy="1801368"/>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30" name="Shape 28"/>
          <p:cNvSpPr/>
          <p:nvPr/>
        </p:nvSpPr>
        <p:spPr>
          <a:xfrm>
            <a:off x="6263640" y="3063240"/>
            <a:ext cx="457200" cy="457200"/>
          </a:xfrm>
          <a:prstGeom prst="ellipse">
            <a:avLst/>
          </a:prstGeom>
          <a:solidFill>
            <a:srgbClr val="00B4D8"/>
          </a:solidFill>
          <a:ln w="12700">
            <a:solidFill>
              <a:srgbClr val="00B4D8"/>
            </a:solidFill>
            <a:prstDash val="solid"/>
          </a:ln>
        </p:spPr>
        <p:txBody>
          <a:bodyPr/>
          <a:lstStyle/>
          <a:p>
            <a:endParaRPr lang="en-US"/>
          </a:p>
        </p:txBody>
      </p:sp>
      <p:sp>
        <p:nvSpPr>
          <p:cNvPr id="31" name="Text 29"/>
          <p:cNvSpPr/>
          <p:nvPr/>
        </p:nvSpPr>
        <p:spPr>
          <a:xfrm>
            <a:off x="6263640" y="3063240"/>
            <a:ext cx="457200" cy="457200"/>
          </a:xfrm>
          <a:prstGeom prst="rect">
            <a:avLst/>
          </a:prstGeom>
          <a:noFill/>
          <a:ln/>
        </p:spPr>
        <p:txBody>
          <a:bodyPr wrap="square" lIns="0" tIns="0" rIns="0" bIns="0" rtlCol="0" anchor="ctr"/>
          <a:lstStyle/>
          <a:p>
            <a:pPr marL="0" indent="0" algn="ctr">
              <a:buNone/>
            </a:pPr>
            <a:r>
              <a:rPr lang="en-US" sz="1300" b="1" dirty="0">
                <a:solidFill>
                  <a:srgbClr val="0D1B2A"/>
                </a:solidFill>
                <a:latin typeface="Georgia" pitchFamily="34" charset="0"/>
                <a:ea typeface="Georgia" pitchFamily="34" charset="-122"/>
                <a:cs typeface="Georgia" pitchFamily="34" charset="-120"/>
              </a:rPr>
              <a:t>6</a:t>
            </a:r>
            <a:endParaRPr lang="en-US" sz="1300" dirty="0"/>
          </a:p>
        </p:txBody>
      </p:sp>
      <p:sp>
        <p:nvSpPr>
          <p:cNvPr id="32" name="Text 30"/>
          <p:cNvSpPr/>
          <p:nvPr/>
        </p:nvSpPr>
        <p:spPr>
          <a:xfrm>
            <a:off x="6812280" y="3099816"/>
            <a:ext cx="2057400" cy="347472"/>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Desplegar contrato</a:t>
            </a:r>
            <a:endParaRPr lang="en-US" sz="1200" dirty="0"/>
          </a:p>
        </p:txBody>
      </p:sp>
      <p:sp>
        <p:nvSpPr>
          <p:cNvPr id="33" name="Text 31"/>
          <p:cNvSpPr/>
          <p:nvPr/>
        </p:nvSpPr>
        <p:spPr>
          <a:xfrm>
            <a:off x="6263640" y="3566160"/>
            <a:ext cx="2606040" cy="1115568"/>
          </a:xfrm>
          <a:prstGeom prst="rect">
            <a:avLst/>
          </a:prstGeom>
          <a:noFill/>
          <a:ln/>
        </p:spPr>
        <p:txBody>
          <a:bodyPr wrap="square" lIns="0" tIns="50800" rIns="50800" bIns="50800" rtlCol="0" anchor="t"/>
          <a:lstStyle/>
          <a:p>
            <a:pPr marL="0" indent="0">
              <a:buNone/>
            </a:pPr>
            <a:r>
              <a:rPr lang="en-US" sz="1050" dirty="0">
                <a:solidFill>
                  <a:srgbClr val="FFFFFF"/>
                </a:solidFill>
                <a:latin typeface="Calibri" pitchFamily="34" charset="0"/>
                <a:ea typeface="Calibri" pitchFamily="34" charset="-122"/>
                <a:cs typeface="Calibri" pitchFamily="34" charset="-120"/>
              </a:rPr>
              <a:t>Remix + MetaMask publican el contrato en Sepolia. Se genera la dirección única del contrato.</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6FB"/>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0D1B2A"/>
                </a:solidFill>
                <a:latin typeface="Georgia" pitchFamily="34" charset="0"/>
                <a:ea typeface="Georgia" pitchFamily="34" charset="-122"/>
                <a:cs typeface="Georgia" pitchFamily="34" charset="-120"/>
              </a:rPr>
              <a:t>Minting: Creando los NFTs de Ajedrez</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987552"/>
            <a:ext cx="4069080" cy="3886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457200" y="1078992"/>
            <a:ext cx="3749040" cy="365760"/>
          </a:xfrm>
          <a:prstGeom prst="rect">
            <a:avLst/>
          </a:prstGeom>
          <a:noFill/>
          <a:ln/>
        </p:spPr>
        <p:txBody>
          <a:bodyPr wrap="square" lIns="0" tIns="0" rIns="0" bIns="0" rtlCol="0" anchor="ctr"/>
          <a:lstStyle/>
          <a:p>
            <a:pPr marL="0" indent="0">
              <a:buNone/>
            </a:pPr>
            <a:r>
              <a:rPr lang="en-US" sz="1300" b="1" dirty="0">
                <a:solidFill>
                  <a:srgbClr val="0D1B2A"/>
                </a:solidFill>
                <a:latin typeface="Georgia" pitchFamily="34" charset="0"/>
                <a:ea typeface="Georgia" pitchFamily="34" charset="-122"/>
                <a:cs typeface="Georgia" pitchFamily="34" charset="-120"/>
              </a:rPr>
              <a:t>¿Qué pasa al ejecutar mintGame()?</a:t>
            </a:r>
            <a:endParaRPr lang="en-US" sz="1300" dirty="0"/>
          </a:p>
        </p:txBody>
      </p:sp>
      <p:sp>
        <p:nvSpPr>
          <p:cNvPr id="6" name="Text 4"/>
          <p:cNvSpPr/>
          <p:nvPr/>
        </p:nvSpPr>
        <p:spPr>
          <a:xfrm>
            <a:off x="457200" y="1508760"/>
            <a:ext cx="3749040" cy="3246120"/>
          </a:xfrm>
          <a:prstGeom prst="rect">
            <a:avLst/>
          </a:prstGeom>
          <a:noFill/>
          <a:ln/>
        </p:spPr>
        <p:txBody>
          <a:bodyPr wrap="square" lIns="50800" tIns="101600" rIns="50800" bIns="50800" rtlCol="0" anchor="t"/>
          <a:lstStyle/>
          <a:p>
            <a:pPr marL="342900" indent="-342900">
              <a:buSzPct val="100000"/>
              <a:buChar char="•"/>
            </a:pPr>
            <a:r>
              <a:rPr lang="en-US" sz="1250" dirty="0">
                <a:solidFill>
                  <a:srgbClr val="0D1B2A"/>
                </a:solidFill>
                <a:latin typeface="Calibri" pitchFamily="34" charset="0"/>
                <a:ea typeface="Calibri" pitchFamily="34" charset="-122"/>
                <a:cs typeface="Calibri" pitchFamily="34" charset="-120"/>
              </a:rPr>
              <a:t>Se asigna el tokenId = 0 (primer NFT)</a:t>
            </a:r>
            <a:endParaRPr lang="en-US" sz="1250" dirty="0"/>
          </a:p>
          <a:p>
            <a:pPr marL="342900" indent="-342900">
              <a:buSzPct val="100000"/>
              <a:buChar char="•"/>
            </a:pPr>
            <a:r>
              <a:rPr lang="en-US" sz="1250" dirty="0">
                <a:solidFill>
                  <a:srgbClr val="0D1B2A"/>
                </a:solidFill>
                <a:latin typeface="Calibri" pitchFamily="34" charset="0"/>
                <a:ea typeface="Calibri" pitchFamily="34" charset="-122"/>
                <a:cs typeface="Calibri" pitchFamily="34" charset="-120"/>
              </a:rPr>
              <a:t>Se registra que el owner es el dueño</a:t>
            </a:r>
            <a:endParaRPr lang="en-US" sz="1250" dirty="0"/>
          </a:p>
          <a:p>
            <a:pPr marL="342900" indent="-342900">
              <a:buSzPct val="100000"/>
              <a:buChar char="•"/>
            </a:pPr>
            <a:r>
              <a:rPr lang="en-US" sz="1250" dirty="0">
                <a:solidFill>
                  <a:srgbClr val="0D1B2A"/>
                </a:solidFill>
                <a:latin typeface="Calibri" pitchFamily="34" charset="0"/>
                <a:ea typeface="Calibri" pitchFamily="34" charset="-122"/>
                <a:cs typeface="Calibri" pitchFamily="34" charset="-120"/>
              </a:rPr>
              <a:t>Se guarda el CID de IPFS en el token</a:t>
            </a:r>
            <a:endParaRPr lang="en-US" sz="1250" dirty="0"/>
          </a:p>
          <a:p>
            <a:pPr marL="342900" indent="-342900">
              <a:buSzPct val="100000"/>
              <a:buChar char="•"/>
            </a:pPr>
            <a:r>
              <a:rPr lang="en-US" sz="1250" dirty="0">
                <a:solidFill>
                  <a:srgbClr val="0D1B2A"/>
                </a:solidFill>
                <a:latin typeface="Calibri" pitchFamily="34" charset="0"/>
                <a:ea typeface="Calibri" pitchFamily="34" charset="-122"/>
                <a:cs typeface="Calibri" pitchFamily="34" charset="-120"/>
              </a:rPr>
              <a:t>nextTokenId se incrementa a 1</a:t>
            </a:r>
            <a:endParaRPr lang="en-US" sz="1250" dirty="0"/>
          </a:p>
          <a:p>
            <a:pPr marL="342900" indent="-342900">
              <a:buSzPct val="100000"/>
              <a:buChar char="•"/>
            </a:pPr>
            <a:r>
              <a:rPr lang="en-US" sz="1250" dirty="0">
                <a:solidFill>
                  <a:srgbClr val="0D1B2A"/>
                </a:solidFill>
                <a:latin typeface="Calibri" pitchFamily="34" charset="0"/>
                <a:ea typeface="Calibri" pitchFamily="34" charset="-122"/>
                <a:cs typeface="Calibri" pitchFamily="34" charset="-120"/>
              </a:rPr>
              <a:t>El evento Transfer queda registrado en blockchain</a:t>
            </a:r>
            <a:endParaRPr lang="en-US" sz="1250" dirty="0"/>
          </a:p>
          <a:p>
            <a:pPr marL="342900" indent="-342900">
              <a:buSzPct val="100000"/>
              <a:buChar char="•"/>
            </a:pPr>
            <a:r>
              <a:rPr lang="en-US" sz="1250" dirty="0">
                <a:solidFill>
                  <a:srgbClr val="0D1B2A"/>
                </a:solidFill>
                <a:latin typeface="Calibri" pitchFamily="34" charset="0"/>
                <a:ea typeface="Calibri" pitchFamily="34" charset="-122"/>
                <a:cs typeface="Calibri" pitchFamily="34" charset="-120"/>
              </a:rPr>
              <a:t>El NFT existe para siempre en Ethereum</a:t>
            </a:r>
            <a:endParaRPr lang="en-US" sz="1250" dirty="0"/>
          </a:p>
        </p:txBody>
      </p:sp>
      <p:sp>
        <p:nvSpPr>
          <p:cNvPr id="7" name="Shape 5"/>
          <p:cNvSpPr/>
          <p:nvPr/>
        </p:nvSpPr>
        <p:spPr>
          <a:xfrm>
            <a:off x="4572000" y="987552"/>
            <a:ext cx="4251960" cy="3886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4709160" y="1078992"/>
            <a:ext cx="3931920" cy="320040"/>
          </a:xfrm>
          <a:prstGeom prst="rect">
            <a:avLst/>
          </a:prstGeom>
          <a:noFill/>
          <a:ln/>
        </p:spPr>
        <p:txBody>
          <a:bodyPr wrap="square" lIns="0" tIns="0" rIns="0" bIns="0" rtlCol="0" anchor="ctr"/>
          <a:lstStyle/>
          <a:p>
            <a:pPr marL="0" indent="0">
              <a:buNone/>
            </a:pPr>
            <a:r>
              <a:rPr lang="en-US" sz="1200" b="1" dirty="0">
                <a:solidFill>
                  <a:srgbClr val="0077A8"/>
                </a:solidFill>
                <a:latin typeface="Georgia" pitchFamily="34" charset="0"/>
                <a:ea typeface="Georgia" pitchFamily="34" charset="-122"/>
                <a:cs typeface="Georgia" pitchFamily="34" charset="-120"/>
              </a:rPr>
              <a:t>Llamadas a mintGame() para las 5 partidas:</a:t>
            </a:r>
            <a:endParaRPr lang="en-US" sz="1200" dirty="0"/>
          </a:p>
        </p:txBody>
      </p:sp>
      <p:sp>
        <p:nvSpPr>
          <p:cNvPr id="9" name="Shape 7"/>
          <p:cNvSpPr/>
          <p:nvPr/>
        </p:nvSpPr>
        <p:spPr>
          <a:xfrm>
            <a:off x="4617720" y="1463040"/>
            <a:ext cx="4114800" cy="3337560"/>
          </a:xfrm>
          <a:prstGeom prst="rect">
            <a:avLst/>
          </a:prstGeom>
          <a:solidFill>
            <a:srgbClr val="0A1628"/>
          </a:solidFill>
          <a:ln w="8890">
            <a:solidFill>
              <a:srgbClr val="00B4D8"/>
            </a:solidFill>
            <a:prstDash val="solid"/>
          </a:ln>
        </p:spPr>
        <p:txBody>
          <a:bodyPr/>
          <a:lstStyle/>
          <a:p>
            <a:endParaRPr lang="en-US"/>
          </a:p>
        </p:txBody>
      </p:sp>
      <p:sp>
        <p:nvSpPr>
          <p:cNvPr id="10" name="Text 8"/>
          <p:cNvSpPr/>
          <p:nvPr/>
        </p:nvSpPr>
        <p:spPr>
          <a:xfrm>
            <a:off x="4663440" y="1508760"/>
            <a:ext cx="4023360" cy="3246120"/>
          </a:xfrm>
          <a:prstGeom prst="rect">
            <a:avLst/>
          </a:prstGeom>
          <a:noFill/>
          <a:ln/>
        </p:spPr>
        <p:txBody>
          <a:bodyPr wrap="square" lIns="50800" tIns="76200" rIns="50800" bIns="50800" rtlCol="0" anchor="t"/>
          <a:lstStyle/>
          <a:p>
            <a:pPr marL="0" indent="0">
              <a:buNone/>
            </a:pPr>
            <a:r>
              <a:rPr lang="en-US" sz="850" dirty="0">
                <a:solidFill>
                  <a:srgbClr val="10B981"/>
                </a:solidFill>
                <a:latin typeface="Consolas" pitchFamily="34" charset="0"/>
                <a:ea typeface="Consolas" pitchFamily="34" charset="-122"/>
                <a:cs typeface="Consolas" pitchFamily="34" charset="-120"/>
              </a:rPr>
              <a:t>mintGame(</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"ipfs://bafkreihh4a4s</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…khvhu"</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 Token 0</a:t>
            </a:r>
            <a:endParaRPr lang="en-US" sz="850" dirty="0"/>
          </a:p>
          <a:p>
            <a:pPr marL="0" indent="0">
              <a:buNone/>
            </a:pP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mintGame(</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"ipfs://bafkreiacmaym</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…nkwe"</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 Token 1</a:t>
            </a:r>
            <a:endParaRPr lang="en-US" sz="850" dirty="0"/>
          </a:p>
          <a:p>
            <a:pPr marL="0" indent="0">
              <a:buNone/>
            </a:pP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mintGame(</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"ipfs://bafkreiapssix</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…nhoa"</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 Token 2</a:t>
            </a:r>
            <a:endParaRPr lang="en-US" sz="850" dirty="0"/>
          </a:p>
          <a:p>
            <a:pPr marL="0" indent="0">
              <a:buNone/>
            </a:pP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mintGame(</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"ipfs://bafkreifegonm</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…qopq"</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 Token 3</a:t>
            </a:r>
            <a:endParaRPr lang="en-US" sz="850" dirty="0"/>
          </a:p>
          <a:p>
            <a:pPr marL="0" indent="0">
              <a:buNone/>
            </a:pP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mintGame(</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"ipfs://bafkreih7lnjv</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…fyc4"</a:t>
            </a:r>
            <a:endParaRPr lang="en-US" sz="850" dirty="0"/>
          </a:p>
          <a:p>
            <a:pPr marL="0" indent="0">
              <a:buNone/>
            </a:pPr>
            <a:r>
              <a:rPr lang="en-US" sz="850" dirty="0">
                <a:solidFill>
                  <a:srgbClr val="10B981"/>
                </a:solidFill>
                <a:latin typeface="Consolas" pitchFamily="34" charset="0"/>
                <a:ea typeface="Consolas" pitchFamily="34" charset="-122"/>
                <a:cs typeface="Consolas" pitchFamily="34" charset="-120"/>
              </a:rPr>
              <a:t>);    // Token 4</a:t>
            </a:r>
            <a:endParaRPr lang="en-US" sz="850" dirty="0"/>
          </a:p>
        </p:txBody>
      </p:sp>
      <p:sp>
        <p:nvSpPr>
          <p:cNvPr id="11" name="Shape 9"/>
          <p:cNvSpPr/>
          <p:nvPr/>
        </p:nvSpPr>
        <p:spPr>
          <a:xfrm>
            <a:off x="320040" y="4983480"/>
            <a:ext cx="8503920" cy="54864"/>
          </a:xfrm>
          <a:prstGeom prst="rect">
            <a:avLst/>
          </a:prstGeom>
          <a:solidFill>
            <a:srgbClr val="00B4D8"/>
          </a:solidFill>
          <a:ln w="12700">
            <a:solidFill>
              <a:srgbClr val="00B4D8"/>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Resultados Obtenidos</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4206240" cy="182880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5" name="Text 3"/>
          <p:cNvSpPr/>
          <p:nvPr/>
        </p:nvSpPr>
        <p:spPr>
          <a:xfrm>
            <a:off x="457200" y="1143000"/>
            <a:ext cx="640080" cy="64008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1234440" y="1115568"/>
            <a:ext cx="1371600" cy="640080"/>
          </a:xfrm>
          <a:prstGeom prst="rect">
            <a:avLst/>
          </a:prstGeom>
          <a:noFill/>
          <a:ln/>
        </p:spPr>
        <p:txBody>
          <a:bodyPr wrap="square" lIns="0" tIns="0" rIns="0" bIns="0" rtlCol="0" anchor="ctr"/>
          <a:lstStyle/>
          <a:p>
            <a:pPr marL="0" indent="0">
              <a:buNone/>
            </a:pPr>
            <a:r>
              <a:rPr lang="en-US" sz="3600" b="1" dirty="0">
                <a:solidFill>
                  <a:srgbClr val="00B4D8"/>
                </a:solidFill>
                <a:latin typeface="Georgia" pitchFamily="34" charset="0"/>
                <a:ea typeface="Georgia" pitchFamily="34" charset="-122"/>
                <a:cs typeface="Georgia" pitchFamily="34" charset="-120"/>
              </a:rPr>
              <a:t>5</a:t>
            </a:r>
            <a:endParaRPr lang="en-US" sz="3600" dirty="0"/>
          </a:p>
        </p:txBody>
      </p:sp>
      <p:sp>
        <p:nvSpPr>
          <p:cNvPr id="7" name="Text 5"/>
          <p:cNvSpPr/>
          <p:nvPr/>
        </p:nvSpPr>
        <p:spPr>
          <a:xfrm>
            <a:off x="2651760" y="1261872"/>
            <a:ext cx="16916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partidas almacenadas</a:t>
            </a:r>
            <a:endParaRPr lang="en-US" sz="1100" dirty="0"/>
          </a:p>
        </p:txBody>
      </p:sp>
      <p:sp>
        <p:nvSpPr>
          <p:cNvPr id="8" name="Text 6"/>
          <p:cNvSpPr/>
          <p:nvPr/>
        </p:nvSpPr>
        <p:spPr>
          <a:xfrm>
            <a:off x="457200" y="1847088"/>
            <a:ext cx="3840480" cy="914400"/>
          </a:xfrm>
          <a:prstGeom prst="rect">
            <a:avLst/>
          </a:prstGeom>
          <a:noFill/>
          <a:ln/>
        </p:spPr>
        <p:txBody>
          <a:bodyPr wrap="square" lIns="0" tIns="50800" rIns="50800" bIns="50800" rtlCol="0" anchor="t"/>
          <a:lstStyle/>
          <a:p>
            <a:pPr marL="0" indent="0">
              <a:buNone/>
            </a:pPr>
            <a:r>
              <a:rPr lang="en-US" sz="1150" dirty="0">
                <a:solidFill>
                  <a:srgbClr val="FFFFFF"/>
                </a:solidFill>
                <a:latin typeface="Calibri" pitchFamily="34" charset="0"/>
                <a:ea typeface="Calibri" pitchFamily="34" charset="-122"/>
                <a:cs typeface="Calibri" pitchFamily="34" charset="-120"/>
              </a:rPr>
              <a:t>Cada PGN descargado de Lichess fue subido exitosamente a IPFS mediante Pinata.</a:t>
            </a:r>
            <a:endParaRPr lang="en-US" sz="1150" dirty="0"/>
          </a:p>
        </p:txBody>
      </p:sp>
      <p:sp>
        <p:nvSpPr>
          <p:cNvPr id="9" name="Shape 7"/>
          <p:cNvSpPr/>
          <p:nvPr/>
        </p:nvSpPr>
        <p:spPr>
          <a:xfrm>
            <a:off x="4709160" y="1005840"/>
            <a:ext cx="4206240" cy="182880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0" name="Text 8"/>
          <p:cNvSpPr/>
          <p:nvPr/>
        </p:nvSpPr>
        <p:spPr>
          <a:xfrm>
            <a:off x="4846320" y="1143000"/>
            <a:ext cx="640080" cy="64008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1" name="Text 9"/>
          <p:cNvSpPr/>
          <p:nvPr/>
        </p:nvSpPr>
        <p:spPr>
          <a:xfrm>
            <a:off x="5623560" y="1115568"/>
            <a:ext cx="1371600" cy="640080"/>
          </a:xfrm>
          <a:prstGeom prst="rect">
            <a:avLst/>
          </a:prstGeom>
          <a:noFill/>
          <a:ln/>
        </p:spPr>
        <p:txBody>
          <a:bodyPr wrap="square" lIns="0" tIns="0" rIns="0" bIns="0" rtlCol="0" anchor="ctr"/>
          <a:lstStyle/>
          <a:p>
            <a:pPr marL="0" indent="0">
              <a:buNone/>
            </a:pPr>
            <a:r>
              <a:rPr lang="en-US" sz="3600" b="1" dirty="0">
                <a:solidFill>
                  <a:srgbClr val="00B4D8"/>
                </a:solidFill>
                <a:latin typeface="Georgia" pitchFamily="34" charset="0"/>
                <a:ea typeface="Georgia" pitchFamily="34" charset="-122"/>
                <a:cs typeface="Georgia" pitchFamily="34" charset="-120"/>
              </a:rPr>
              <a:t>5</a:t>
            </a:r>
            <a:endParaRPr lang="en-US" sz="3600" dirty="0"/>
          </a:p>
        </p:txBody>
      </p:sp>
      <p:sp>
        <p:nvSpPr>
          <p:cNvPr id="12" name="Text 10"/>
          <p:cNvSpPr/>
          <p:nvPr/>
        </p:nvSpPr>
        <p:spPr>
          <a:xfrm>
            <a:off x="7040880" y="1261872"/>
            <a:ext cx="16916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NFTs creados</a:t>
            </a:r>
            <a:endParaRPr lang="en-US" sz="1100" dirty="0"/>
          </a:p>
        </p:txBody>
      </p:sp>
      <p:sp>
        <p:nvSpPr>
          <p:cNvPr id="13" name="Text 11"/>
          <p:cNvSpPr/>
          <p:nvPr/>
        </p:nvSpPr>
        <p:spPr>
          <a:xfrm>
            <a:off x="4846320" y="1847088"/>
            <a:ext cx="3840480" cy="914400"/>
          </a:xfrm>
          <a:prstGeom prst="rect">
            <a:avLst/>
          </a:prstGeom>
          <a:noFill/>
          <a:ln/>
        </p:spPr>
        <p:txBody>
          <a:bodyPr wrap="square" lIns="0" tIns="50800" rIns="50800" bIns="50800" rtlCol="0" anchor="t"/>
          <a:lstStyle/>
          <a:p>
            <a:pPr marL="0" indent="0">
              <a:buNone/>
            </a:pPr>
            <a:r>
              <a:rPr lang="en-US" sz="1150" dirty="0">
                <a:solidFill>
                  <a:srgbClr val="FFFFFF"/>
                </a:solidFill>
                <a:latin typeface="Calibri" pitchFamily="34" charset="0"/>
                <a:ea typeface="Calibri" pitchFamily="34" charset="-122"/>
                <a:cs typeface="Calibri" pitchFamily="34" charset="-120"/>
              </a:rPr>
              <a:t>Cada partida quedó representada como un NFT único en la blockchain Sepolia.</a:t>
            </a:r>
            <a:endParaRPr lang="en-US" sz="1150" dirty="0"/>
          </a:p>
        </p:txBody>
      </p:sp>
      <p:sp>
        <p:nvSpPr>
          <p:cNvPr id="14" name="Shape 12"/>
          <p:cNvSpPr/>
          <p:nvPr/>
        </p:nvSpPr>
        <p:spPr>
          <a:xfrm>
            <a:off x="320040" y="3017520"/>
            <a:ext cx="4206240" cy="182880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5" name="Text 13"/>
          <p:cNvSpPr/>
          <p:nvPr/>
        </p:nvSpPr>
        <p:spPr>
          <a:xfrm>
            <a:off x="457200" y="3154680"/>
            <a:ext cx="640080" cy="64008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6" name="Text 14"/>
          <p:cNvSpPr/>
          <p:nvPr/>
        </p:nvSpPr>
        <p:spPr>
          <a:xfrm>
            <a:off x="1234440" y="3127248"/>
            <a:ext cx="1371600" cy="640080"/>
          </a:xfrm>
          <a:prstGeom prst="rect">
            <a:avLst/>
          </a:prstGeom>
          <a:noFill/>
          <a:ln/>
        </p:spPr>
        <p:txBody>
          <a:bodyPr wrap="square" lIns="0" tIns="0" rIns="0" bIns="0" rtlCol="0" anchor="ctr"/>
          <a:lstStyle/>
          <a:p>
            <a:pPr marL="0" indent="0">
              <a:buNone/>
            </a:pPr>
            <a:r>
              <a:rPr lang="en-US" sz="3600" b="1" dirty="0">
                <a:solidFill>
                  <a:srgbClr val="00B4D8"/>
                </a:solidFill>
                <a:latin typeface="Georgia" pitchFamily="34" charset="0"/>
                <a:ea typeface="Georgia" pitchFamily="34" charset="-122"/>
                <a:cs typeface="Georgia" pitchFamily="34" charset="-120"/>
              </a:rPr>
              <a:t>✓</a:t>
            </a:r>
            <a:endParaRPr lang="en-US" sz="3600" dirty="0"/>
          </a:p>
        </p:txBody>
      </p:sp>
      <p:sp>
        <p:nvSpPr>
          <p:cNvPr id="17" name="Text 15"/>
          <p:cNvSpPr/>
          <p:nvPr/>
        </p:nvSpPr>
        <p:spPr>
          <a:xfrm>
            <a:off x="2651760" y="3273552"/>
            <a:ext cx="16916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Venta habilitada</a:t>
            </a:r>
            <a:endParaRPr lang="en-US" sz="1100" dirty="0"/>
          </a:p>
        </p:txBody>
      </p:sp>
      <p:sp>
        <p:nvSpPr>
          <p:cNvPr id="18" name="Text 16"/>
          <p:cNvSpPr/>
          <p:nvPr/>
        </p:nvSpPr>
        <p:spPr>
          <a:xfrm>
            <a:off x="457200" y="3858768"/>
            <a:ext cx="3840480" cy="914400"/>
          </a:xfrm>
          <a:prstGeom prst="rect">
            <a:avLst/>
          </a:prstGeom>
          <a:noFill/>
          <a:ln/>
        </p:spPr>
        <p:txBody>
          <a:bodyPr wrap="square" lIns="0" tIns="50800" rIns="50800" bIns="50800" rtlCol="0" anchor="t"/>
          <a:lstStyle/>
          <a:p>
            <a:pPr marL="0" indent="0">
              <a:buNone/>
            </a:pPr>
            <a:r>
              <a:rPr lang="en-US" sz="1150" dirty="0">
                <a:solidFill>
                  <a:srgbClr val="FFFFFF"/>
                </a:solidFill>
                <a:latin typeface="Calibri" pitchFamily="34" charset="0"/>
                <a:ea typeface="Calibri" pitchFamily="34" charset="-122"/>
                <a:cs typeface="Calibri" pitchFamily="34" charset="-120"/>
              </a:rPr>
              <a:t>Los NFTs pueden ponerse en venta con putOnSale() y comprarse con buyNFT().</a:t>
            </a:r>
            <a:endParaRPr lang="en-US" sz="1150" dirty="0"/>
          </a:p>
        </p:txBody>
      </p:sp>
      <p:sp>
        <p:nvSpPr>
          <p:cNvPr id="19" name="Shape 17"/>
          <p:cNvSpPr/>
          <p:nvPr/>
        </p:nvSpPr>
        <p:spPr>
          <a:xfrm>
            <a:off x="4709160" y="3017520"/>
            <a:ext cx="4206240" cy="182880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20" name="Text 18"/>
          <p:cNvSpPr/>
          <p:nvPr/>
        </p:nvSpPr>
        <p:spPr>
          <a:xfrm>
            <a:off x="4846320" y="3154680"/>
            <a:ext cx="640080" cy="64008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1" name="Text 19"/>
          <p:cNvSpPr/>
          <p:nvPr/>
        </p:nvSpPr>
        <p:spPr>
          <a:xfrm>
            <a:off x="5623560" y="3127248"/>
            <a:ext cx="1371600" cy="640080"/>
          </a:xfrm>
          <a:prstGeom prst="rect">
            <a:avLst/>
          </a:prstGeom>
          <a:noFill/>
          <a:ln/>
        </p:spPr>
        <p:txBody>
          <a:bodyPr wrap="square" lIns="0" tIns="0" rIns="0" bIns="0" rtlCol="0" anchor="ctr"/>
          <a:lstStyle/>
          <a:p>
            <a:pPr marL="0" indent="0">
              <a:buNone/>
            </a:pPr>
            <a:r>
              <a:rPr lang="en-US" sz="3600" b="1" dirty="0">
                <a:solidFill>
                  <a:srgbClr val="00B4D8"/>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7040880" y="3273552"/>
            <a:ext cx="16916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Inmutables en IPFS</a:t>
            </a:r>
            <a:endParaRPr lang="en-US" sz="1100" dirty="0"/>
          </a:p>
        </p:txBody>
      </p:sp>
      <p:sp>
        <p:nvSpPr>
          <p:cNvPr id="23" name="Text 21"/>
          <p:cNvSpPr/>
          <p:nvPr/>
        </p:nvSpPr>
        <p:spPr>
          <a:xfrm>
            <a:off x="4846320" y="3858768"/>
            <a:ext cx="3840480" cy="914400"/>
          </a:xfrm>
          <a:prstGeom prst="rect">
            <a:avLst/>
          </a:prstGeom>
          <a:noFill/>
          <a:ln/>
        </p:spPr>
        <p:txBody>
          <a:bodyPr wrap="square" lIns="0" tIns="50800" rIns="50800" bIns="50800" rtlCol="0" anchor="t"/>
          <a:lstStyle/>
          <a:p>
            <a:pPr marL="0" indent="0">
              <a:buNone/>
            </a:pPr>
            <a:r>
              <a:rPr lang="en-US" sz="1150" dirty="0">
                <a:solidFill>
                  <a:srgbClr val="FFFFFF"/>
                </a:solidFill>
                <a:latin typeface="Calibri" pitchFamily="34" charset="0"/>
                <a:ea typeface="Calibri" pitchFamily="34" charset="-122"/>
                <a:cs typeface="Calibri" pitchFamily="34" charset="-120"/>
              </a:rPr>
              <a:t>Los archivos PGN se conservan en IPFS con su CID único e irrepetible.</a:t>
            </a:r>
            <a:endParaRPr lang="en-US" sz="1150" dirty="0"/>
          </a:p>
        </p:txBody>
      </p:sp>
      <p:sp>
        <p:nvSpPr>
          <p:cNvPr id="24" name="Shape 22"/>
          <p:cNvSpPr/>
          <p:nvPr/>
        </p:nvSpPr>
        <p:spPr>
          <a:xfrm>
            <a:off x="320040" y="4919472"/>
            <a:ext cx="8503920" cy="109728"/>
          </a:xfrm>
          <a:prstGeom prst="rect">
            <a:avLst/>
          </a:prstGeom>
          <a:solidFill>
            <a:srgbClr val="00B4D8"/>
          </a:solidFill>
          <a:ln w="12700">
            <a:solidFill>
              <a:srgbClr val="00B4D8"/>
            </a:solidFill>
            <a:prstDash val="solid"/>
          </a:ln>
        </p:spPr>
        <p:txBody>
          <a:bodyPr/>
          <a:lstStyle/>
          <a:p>
            <a:endParaRPr lang="en-US"/>
          </a:p>
        </p:txBody>
      </p:sp>
      <p:sp>
        <p:nvSpPr>
          <p:cNvPr id="25" name="Text 23"/>
          <p:cNvSpPr/>
          <p:nvPr/>
        </p:nvSpPr>
        <p:spPr>
          <a:xfrm>
            <a:off x="457200" y="4919472"/>
            <a:ext cx="8229600" cy="201168"/>
          </a:xfrm>
          <a:prstGeom prst="rect">
            <a:avLst/>
          </a:prstGeom>
          <a:noFill/>
          <a:ln/>
        </p:spPr>
        <p:txBody>
          <a:bodyPr wrap="square" lIns="0" tIns="0" rIns="0" bIns="0" rtlCol="0" anchor="ctr"/>
          <a:lstStyle/>
          <a:p>
            <a:pPr marL="0" indent="0" algn="ctr">
              <a:buNone/>
            </a:pPr>
            <a:r>
              <a:rPr lang="en-US" sz="1050" b="1" dirty="0">
                <a:solidFill>
                  <a:srgbClr val="0D1B2A"/>
                </a:solidFill>
                <a:latin typeface="Calibri" pitchFamily="34" charset="0"/>
                <a:ea typeface="Calibri" pitchFamily="34" charset="-122"/>
                <a:cs typeface="Calibri" pitchFamily="34" charset="-120"/>
              </a:rPr>
              <a:t>Proyecto funcional y verificable en la red de pruebas Sepolia de Ethereum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6FB"/>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0D1B2A"/>
                </a:solidFill>
                <a:latin typeface="Georgia" pitchFamily="34" charset="0"/>
                <a:ea typeface="Georgia" pitchFamily="34" charset="-122"/>
                <a:cs typeface="Georgia" pitchFamily="34" charset="-120"/>
              </a:rPr>
              <a:t>Arquitectura General del Sistema</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274320" y="1920240"/>
            <a:ext cx="1664208" cy="1600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274320" y="1920240"/>
            <a:ext cx="1664208" cy="201168"/>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320040" y="2176272"/>
            <a:ext cx="1572768" cy="548640"/>
          </a:xfrm>
          <a:prstGeom prst="rect">
            <a:avLst/>
          </a:prstGeom>
          <a:noFill/>
          <a:ln/>
        </p:spPr>
        <p:txBody>
          <a:bodyPr wrap="square" lIns="0" tIns="0" rIns="0" bIns="0" rtlCol="0" anchor="ctr"/>
          <a:lstStyle/>
          <a:p>
            <a:pPr marL="0" indent="0" algn="ctr">
              <a:buNone/>
            </a:pPr>
            <a:r>
              <a:rPr lang="en-US" sz="1150" b="1" dirty="0">
                <a:solidFill>
                  <a:srgbClr val="0D1B2A"/>
                </a:solidFill>
                <a:latin typeface="Georgia" pitchFamily="34" charset="0"/>
                <a:ea typeface="Georgia" pitchFamily="34" charset="-122"/>
                <a:cs typeface="Georgia" pitchFamily="34" charset="-120"/>
              </a:rPr>
              <a:t>Lichess</a:t>
            </a:r>
            <a:endParaRPr lang="en-US" sz="1150" dirty="0"/>
          </a:p>
        </p:txBody>
      </p:sp>
      <p:sp>
        <p:nvSpPr>
          <p:cNvPr id="7" name="Text 5"/>
          <p:cNvSpPr/>
          <p:nvPr/>
        </p:nvSpPr>
        <p:spPr>
          <a:xfrm>
            <a:off x="320040" y="2788920"/>
            <a:ext cx="1572768"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Descarga PGN</a:t>
            </a:r>
            <a:endParaRPr lang="en-US" sz="1000" dirty="0"/>
          </a:p>
        </p:txBody>
      </p:sp>
      <p:sp>
        <p:nvSpPr>
          <p:cNvPr id="8" name="Shape 6"/>
          <p:cNvSpPr/>
          <p:nvPr/>
        </p:nvSpPr>
        <p:spPr>
          <a:xfrm>
            <a:off x="1975104" y="2715768"/>
            <a:ext cx="365760" cy="0"/>
          </a:xfrm>
          <a:prstGeom prst="line">
            <a:avLst/>
          </a:prstGeom>
          <a:noFill/>
          <a:ln w="25400">
            <a:solidFill>
              <a:srgbClr val="00B4D8"/>
            </a:solidFill>
            <a:prstDash val="solid"/>
          </a:ln>
        </p:spPr>
        <p:txBody>
          <a:bodyPr/>
          <a:lstStyle/>
          <a:p>
            <a:endParaRPr lang="en-US"/>
          </a:p>
        </p:txBody>
      </p:sp>
      <p:sp>
        <p:nvSpPr>
          <p:cNvPr id="9" name="Text 7"/>
          <p:cNvSpPr/>
          <p:nvPr/>
        </p:nvSpPr>
        <p:spPr>
          <a:xfrm>
            <a:off x="2075688" y="2578608"/>
            <a:ext cx="274320" cy="32004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10" name="Shape 8"/>
          <p:cNvSpPr/>
          <p:nvPr/>
        </p:nvSpPr>
        <p:spPr>
          <a:xfrm>
            <a:off x="2103120" y="1920240"/>
            <a:ext cx="1664208" cy="1600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11" name="Shape 9"/>
          <p:cNvSpPr/>
          <p:nvPr/>
        </p:nvSpPr>
        <p:spPr>
          <a:xfrm>
            <a:off x="2103120" y="1920240"/>
            <a:ext cx="1664208" cy="201168"/>
          </a:xfrm>
          <a:prstGeom prst="rect">
            <a:avLst/>
          </a:prstGeom>
          <a:solidFill>
            <a:srgbClr val="0077A8"/>
          </a:solidFill>
          <a:ln w="12700">
            <a:solidFill>
              <a:srgbClr val="0077A8"/>
            </a:solidFill>
            <a:prstDash val="solid"/>
          </a:ln>
        </p:spPr>
        <p:txBody>
          <a:bodyPr/>
          <a:lstStyle/>
          <a:p>
            <a:endParaRPr lang="en-US"/>
          </a:p>
        </p:txBody>
      </p:sp>
      <p:sp>
        <p:nvSpPr>
          <p:cNvPr id="12" name="Text 10"/>
          <p:cNvSpPr/>
          <p:nvPr/>
        </p:nvSpPr>
        <p:spPr>
          <a:xfrm>
            <a:off x="2148840" y="2176272"/>
            <a:ext cx="1572768" cy="548640"/>
          </a:xfrm>
          <a:prstGeom prst="rect">
            <a:avLst/>
          </a:prstGeom>
          <a:noFill/>
          <a:ln/>
        </p:spPr>
        <p:txBody>
          <a:bodyPr wrap="square" lIns="0" tIns="0" rIns="0" bIns="0" rtlCol="0" anchor="ctr"/>
          <a:lstStyle/>
          <a:p>
            <a:pPr marL="0" indent="0" algn="ctr">
              <a:buNone/>
            </a:pPr>
            <a:r>
              <a:rPr lang="en-US" sz="1150" b="1" dirty="0">
                <a:solidFill>
                  <a:srgbClr val="0D1B2A"/>
                </a:solidFill>
                <a:latin typeface="Georgia" pitchFamily="34" charset="0"/>
                <a:ea typeface="Georgia" pitchFamily="34" charset="-122"/>
                <a:cs typeface="Georgia" pitchFamily="34" charset="-120"/>
              </a:rPr>
              <a:t>IPFS / Pinata</a:t>
            </a:r>
            <a:endParaRPr lang="en-US" sz="1150" dirty="0"/>
          </a:p>
        </p:txBody>
      </p:sp>
      <p:sp>
        <p:nvSpPr>
          <p:cNvPr id="13" name="Text 11"/>
          <p:cNvSpPr/>
          <p:nvPr/>
        </p:nvSpPr>
        <p:spPr>
          <a:xfrm>
            <a:off x="2148840" y="2788920"/>
            <a:ext cx="1572768"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Obtiene CID</a:t>
            </a:r>
            <a:endParaRPr lang="en-US" sz="1000" dirty="0"/>
          </a:p>
        </p:txBody>
      </p:sp>
      <p:sp>
        <p:nvSpPr>
          <p:cNvPr id="14" name="Shape 12"/>
          <p:cNvSpPr/>
          <p:nvPr/>
        </p:nvSpPr>
        <p:spPr>
          <a:xfrm>
            <a:off x="3803904" y="2715768"/>
            <a:ext cx="365760" cy="0"/>
          </a:xfrm>
          <a:prstGeom prst="line">
            <a:avLst/>
          </a:prstGeom>
          <a:noFill/>
          <a:ln w="25400">
            <a:solidFill>
              <a:srgbClr val="00B4D8"/>
            </a:solidFill>
            <a:prstDash val="solid"/>
          </a:ln>
        </p:spPr>
        <p:txBody>
          <a:bodyPr/>
          <a:lstStyle/>
          <a:p>
            <a:endParaRPr lang="en-US"/>
          </a:p>
        </p:txBody>
      </p:sp>
      <p:sp>
        <p:nvSpPr>
          <p:cNvPr id="15" name="Text 13"/>
          <p:cNvSpPr/>
          <p:nvPr/>
        </p:nvSpPr>
        <p:spPr>
          <a:xfrm>
            <a:off x="3904488" y="2578608"/>
            <a:ext cx="274320" cy="32004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16" name="Shape 14"/>
          <p:cNvSpPr/>
          <p:nvPr/>
        </p:nvSpPr>
        <p:spPr>
          <a:xfrm>
            <a:off x="3931920" y="1920240"/>
            <a:ext cx="1664208" cy="1600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3931920" y="1920240"/>
            <a:ext cx="1664208" cy="201168"/>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3977640" y="2176272"/>
            <a:ext cx="1572768" cy="548640"/>
          </a:xfrm>
          <a:prstGeom prst="rect">
            <a:avLst/>
          </a:prstGeom>
          <a:noFill/>
          <a:ln/>
        </p:spPr>
        <p:txBody>
          <a:bodyPr wrap="square" lIns="0" tIns="0" rIns="0" bIns="0" rtlCol="0" anchor="ctr"/>
          <a:lstStyle/>
          <a:p>
            <a:pPr marL="0" indent="0" algn="ctr">
              <a:buNone/>
            </a:pPr>
            <a:r>
              <a:rPr lang="en-US" sz="1150" b="1" dirty="0">
                <a:solidFill>
                  <a:srgbClr val="0D1B2A"/>
                </a:solidFill>
                <a:latin typeface="Georgia" pitchFamily="34" charset="0"/>
                <a:ea typeface="Georgia" pitchFamily="34" charset="-122"/>
                <a:cs typeface="Georgia" pitchFamily="34" charset="-120"/>
              </a:rPr>
              <a:t>Remix IDE</a:t>
            </a:r>
            <a:endParaRPr lang="en-US" sz="1150" dirty="0"/>
          </a:p>
        </p:txBody>
      </p:sp>
      <p:sp>
        <p:nvSpPr>
          <p:cNvPr id="19" name="Text 17"/>
          <p:cNvSpPr/>
          <p:nvPr/>
        </p:nvSpPr>
        <p:spPr>
          <a:xfrm>
            <a:off x="3977640" y="2788920"/>
            <a:ext cx="1572768"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Compila contrato</a:t>
            </a:r>
            <a:endParaRPr lang="en-US" sz="1000" dirty="0"/>
          </a:p>
        </p:txBody>
      </p:sp>
      <p:sp>
        <p:nvSpPr>
          <p:cNvPr id="20" name="Shape 18"/>
          <p:cNvSpPr/>
          <p:nvPr/>
        </p:nvSpPr>
        <p:spPr>
          <a:xfrm>
            <a:off x="5632704" y="2715768"/>
            <a:ext cx="365760" cy="0"/>
          </a:xfrm>
          <a:prstGeom prst="line">
            <a:avLst/>
          </a:prstGeom>
          <a:noFill/>
          <a:ln w="25400">
            <a:solidFill>
              <a:srgbClr val="00B4D8"/>
            </a:solidFill>
            <a:prstDash val="solid"/>
          </a:ln>
        </p:spPr>
        <p:txBody>
          <a:bodyPr/>
          <a:lstStyle/>
          <a:p>
            <a:endParaRPr lang="en-US"/>
          </a:p>
        </p:txBody>
      </p:sp>
      <p:sp>
        <p:nvSpPr>
          <p:cNvPr id="21" name="Text 19"/>
          <p:cNvSpPr/>
          <p:nvPr/>
        </p:nvSpPr>
        <p:spPr>
          <a:xfrm>
            <a:off x="5733288" y="2578608"/>
            <a:ext cx="274320" cy="32004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22" name="Shape 20"/>
          <p:cNvSpPr/>
          <p:nvPr/>
        </p:nvSpPr>
        <p:spPr>
          <a:xfrm>
            <a:off x="5760720" y="1920240"/>
            <a:ext cx="1664208" cy="1600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23" name="Shape 21"/>
          <p:cNvSpPr/>
          <p:nvPr/>
        </p:nvSpPr>
        <p:spPr>
          <a:xfrm>
            <a:off x="5760720" y="1920240"/>
            <a:ext cx="1664208" cy="201168"/>
          </a:xfrm>
          <a:prstGeom prst="rect">
            <a:avLst/>
          </a:prstGeom>
          <a:solidFill>
            <a:srgbClr val="E05C5C"/>
          </a:solidFill>
          <a:ln w="12700">
            <a:solidFill>
              <a:srgbClr val="E05C5C"/>
            </a:solidFill>
            <a:prstDash val="solid"/>
          </a:ln>
        </p:spPr>
        <p:txBody>
          <a:bodyPr/>
          <a:lstStyle/>
          <a:p>
            <a:endParaRPr lang="en-US"/>
          </a:p>
        </p:txBody>
      </p:sp>
      <p:sp>
        <p:nvSpPr>
          <p:cNvPr id="24" name="Text 22"/>
          <p:cNvSpPr/>
          <p:nvPr/>
        </p:nvSpPr>
        <p:spPr>
          <a:xfrm>
            <a:off x="5806440" y="2176272"/>
            <a:ext cx="1572768" cy="548640"/>
          </a:xfrm>
          <a:prstGeom prst="rect">
            <a:avLst/>
          </a:prstGeom>
          <a:noFill/>
          <a:ln/>
        </p:spPr>
        <p:txBody>
          <a:bodyPr wrap="square" lIns="0" tIns="0" rIns="0" bIns="0" rtlCol="0" anchor="ctr"/>
          <a:lstStyle/>
          <a:p>
            <a:pPr marL="0" indent="0" algn="ctr">
              <a:buNone/>
            </a:pPr>
            <a:r>
              <a:rPr lang="en-US" sz="1150" b="1" dirty="0">
                <a:solidFill>
                  <a:srgbClr val="0D1B2A"/>
                </a:solidFill>
                <a:latin typeface="Georgia" pitchFamily="34" charset="0"/>
                <a:ea typeface="Georgia" pitchFamily="34" charset="-122"/>
                <a:cs typeface="Georgia" pitchFamily="34" charset="-120"/>
              </a:rPr>
              <a:t>MetaMask</a:t>
            </a:r>
            <a:endParaRPr lang="en-US" sz="1150" dirty="0"/>
          </a:p>
        </p:txBody>
      </p:sp>
      <p:sp>
        <p:nvSpPr>
          <p:cNvPr id="25" name="Text 23"/>
          <p:cNvSpPr/>
          <p:nvPr/>
        </p:nvSpPr>
        <p:spPr>
          <a:xfrm>
            <a:off x="5806440" y="2788920"/>
            <a:ext cx="1572768"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Firma &amp; paga gas</a:t>
            </a:r>
            <a:endParaRPr lang="en-US" sz="1000" dirty="0"/>
          </a:p>
        </p:txBody>
      </p:sp>
      <p:sp>
        <p:nvSpPr>
          <p:cNvPr id="26" name="Shape 24"/>
          <p:cNvSpPr/>
          <p:nvPr/>
        </p:nvSpPr>
        <p:spPr>
          <a:xfrm>
            <a:off x="7461504" y="2715768"/>
            <a:ext cx="365760" cy="0"/>
          </a:xfrm>
          <a:prstGeom prst="line">
            <a:avLst/>
          </a:prstGeom>
          <a:noFill/>
          <a:ln w="25400">
            <a:solidFill>
              <a:srgbClr val="00B4D8"/>
            </a:solidFill>
            <a:prstDash val="solid"/>
          </a:ln>
        </p:spPr>
        <p:txBody>
          <a:bodyPr/>
          <a:lstStyle/>
          <a:p>
            <a:endParaRPr lang="en-US"/>
          </a:p>
        </p:txBody>
      </p:sp>
      <p:sp>
        <p:nvSpPr>
          <p:cNvPr id="27" name="Text 25"/>
          <p:cNvSpPr/>
          <p:nvPr/>
        </p:nvSpPr>
        <p:spPr>
          <a:xfrm>
            <a:off x="7562088" y="2578608"/>
            <a:ext cx="274320" cy="32004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28" name="Shape 26"/>
          <p:cNvSpPr/>
          <p:nvPr/>
        </p:nvSpPr>
        <p:spPr>
          <a:xfrm>
            <a:off x="7589520" y="1920240"/>
            <a:ext cx="1664208" cy="1600200"/>
          </a:xfrm>
          <a:prstGeom prst="rect">
            <a:avLst/>
          </a:prstGeom>
          <a:solidFill>
            <a:srgbClr val="FFFFFF"/>
          </a:solidFill>
          <a:ln w="12700">
            <a:solidFill>
              <a:srgbClr val="00B4D8"/>
            </a:solidFill>
            <a:prstDash val="solid"/>
          </a:ln>
          <a:effectLst>
            <a:outerShdw blurRad="76200" dist="25400" dir="8100000" algn="bl" rotWithShape="0">
              <a:srgbClr val="000000">
                <a:alpha val="10000"/>
              </a:srgbClr>
            </a:outerShdw>
          </a:effectLst>
        </p:spPr>
        <p:txBody>
          <a:bodyPr/>
          <a:lstStyle/>
          <a:p>
            <a:endParaRPr lang="en-US"/>
          </a:p>
        </p:txBody>
      </p:sp>
      <p:sp>
        <p:nvSpPr>
          <p:cNvPr id="29" name="Shape 27"/>
          <p:cNvSpPr/>
          <p:nvPr/>
        </p:nvSpPr>
        <p:spPr>
          <a:xfrm>
            <a:off x="7589520" y="1920240"/>
            <a:ext cx="1664208" cy="201168"/>
          </a:xfrm>
          <a:prstGeom prst="rect">
            <a:avLst/>
          </a:prstGeom>
          <a:solidFill>
            <a:srgbClr val="10B981"/>
          </a:solidFill>
          <a:ln w="12700">
            <a:solidFill>
              <a:srgbClr val="10B981"/>
            </a:solidFill>
            <a:prstDash val="solid"/>
          </a:ln>
        </p:spPr>
        <p:txBody>
          <a:bodyPr/>
          <a:lstStyle/>
          <a:p>
            <a:endParaRPr lang="en-US"/>
          </a:p>
        </p:txBody>
      </p:sp>
      <p:sp>
        <p:nvSpPr>
          <p:cNvPr id="30" name="Text 28"/>
          <p:cNvSpPr/>
          <p:nvPr/>
        </p:nvSpPr>
        <p:spPr>
          <a:xfrm>
            <a:off x="7635240" y="2176272"/>
            <a:ext cx="1572768" cy="548640"/>
          </a:xfrm>
          <a:prstGeom prst="rect">
            <a:avLst/>
          </a:prstGeom>
          <a:noFill/>
          <a:ln/>
        </p:spPr>
        <p:txBody>
          <a:bodyPr wrap="square" lIns="0" tIns="0" rIns="0" bIns="0" rtlCol="0" anchor="ctr"/>
          <a:lstStyle/>
          <a:p>
            <a:pPr marL="0" indent="0" algn="ctr">
              <a:buNone/>
            </a:pPr>
            <a:r>
              <a:rPr lang="en-US" sz="1150" b="1" dirty="0">
                <a:solidFill>
                  <a:srgbClr val="0D1B2A"/>
                </a:solidFill>
                <a:latin typeface="Georgia" pitchFamily="34" charset="0"/>
                <a:ea typeface="Georgia" pitchFamily="34" charset="-122"/>
                <a:cs typeface="Georgia" pitchFamily="34" charset="-120"/>
              </a:rPr>
              <a:t>Ethereum</a:t>
            </a:r>
            <a:endParaRPr lang="en-US" sz="1150" dirty="0"/>
          </a:p>
          <a:p>
            <a:pPr marL="0" indent="0" algn="ctr">
              <a:buNone/>
            </a:pPr>
            <a:r>
              <a:rPr lang="en-US" sz="1150" b="1" dirty="0">
                <a:solidFill>
                  <a:srgbClr val="0D1B2A"/>
                </a:solidFill>
                <a:latin typeface="Georgia" pitchFamily="34" charset="0"/>
                <a:ea typeface="Georgia" pitchFamily="34" charset="-122"/>
                <a:cs typeface="Georgia" pitchFamily="34" charset="-120"/>
              </a:rPr>
              <a:t>Sepolia</a:t>
            </a:r>
            <a:endParaRPr lang="en-US" sz="1150" dirty="0"/>
          </a:p>
        </p:txBody>
      </p:sp>
      <p:sp>
        <p:nvSpPr>
          <p:cNvPr id="31" name="Text 29"/>
          <p:cNvSpPr/>
          <p:nvPr/>
        </p:nvSpPr>
        <p:spPr>
          <a:xfrm>
            <a:off x="7635240" y="2788920"/>
            <a:ext cx="1572768"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Despliega ChessNFT</a:t>
            </a:r>
            <a:endParaRPr lang="en-US" sz="1000" dirty="0"/>
          </a:p>
        </p:txBody>
      </p:sp>
      <p:sp>
        <p:nvSpPr>
          <p:cNvPr id="32" name="Text 30"/>
          <p:cNvSpPr/>
          <p:nvPr/>
        </p:nvSpPr>
        <p:spPr>
          <a:xfrm>
            <a:off x="320040" y="3730752"/>
            <a:ext cx="8503920" cy="274320"/>
          </a:xfrm>
          <a:prstGeom prst="rect">
            <a:avLst/>
          </a:prstGeom>
          <a:noFill/>
          <a:ln/>
        </p:spPr>
        <p:txBody>
          <a:bodyPr wrap="square" lIns="0" tIns="0" rIns="0" bIns="0" rtlCol="0" anchor="ctr"/>
          <a:lstStyle/>
          <a:p>
            <a:pPr marL="0" indent="0">
              <a:buNone/>
            </a:pPr>
            <a:r>
              <a:rPr lang="en-US" sz="1200" b="1" dirty="0">
                <a:solidFill>
                  <a:srgbClr val="0D1B2A"/>
                </a:solidFill>
                <a:latin typeface="Georgia" pitchFamily="34" charset="0"/>
                <a:ea typeface="Georgia" pitchFamily="34" charset="-122"/>
                <a:cs typeface="Georgia" pitchFamily="34" charset="-120"/>
              </a:rPr>
              <a:t>Ciclo de vida de un NFT de Ajedrez:</a:t>
            </a:r>
            <a:endParaRPr lang="en-US" sz="1200" dirty="0"/>
          </a:p>
        </p:txBody>
      </p:sp>
      <p:sp>
        <p:nvSpPr>
          <p:cNvPr id="33" name="Shape 31"/>
          <p:cNvSpPr/>
          <p:nvPr/>
        </p:nvSpPr>
        <p:spPr>
          <a:xfrm>
            <a:off x="274320" y="4069080"/>
            <a:ext cx="1627632" cy="502920"/>
          </a:xfrm>
          <a:prstGeom prst="rect">
            <a:avLst/>
          </a:prstGeom>
          <a:solidFill>
            <a:srgbClr val="00B4D8"/>
          </a:solidFill>
          <a:ln w="12700">
            <a:solidFill>
              <a:srgbClr val="00B4D8"/>
            </a:solidFill>
            <a:prstDash val="solid"/>
          </a:ln>
        </p:spPr>
        <p:txBody>
          <a:bodyPr/>
          <a:lstStyle/>
          <a:p>
            <a:endParaRPr lang="en-US"/>
          </a:p>
        </p:txBody>
      </p:sp>
      <p:sp>
        <p:nvSpPr>
          <p:cNvPr id="34" name="Text 32"/>
          <p:cNvSpPr/>
          <p:nvPr/>
        </p:nvSpPr>
        <p:spPr>
          <a:xfrm>
            <a:off x="274320" y="4069080"/>
            <a:ext cx="1627632"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mintGame(CID)</a:t>
            </a:r>
            <a:endParaRPr lang="en-US" sz="950" dirty="0"/>
          </a:p>
        </p:txBody>
      </p:sp>
      <p:sp>
        <p:nvSpPr>
          <p:cNvPr id="35" name="Shape 33"/>
          <p:cNvSpPr/>
          <p:nvPr/>
        </p:nvSpPr>
        <p:spPr>
          <a:xfrm>
            <a:off x="2011680" y="4069080"/>
            <a:ext cx="1627632" cy="502920"/>
          </a:xfrm>
          <a:prstGeom prst="rect">
            <a:avLst/>
          </a:prstGeom>
          <a:solidFill>
            <a:srgbClr val="0D1B2A"/>
          </a:solidFill>
          <a:ln w="12700">
            <a:solidFill>
              <a:srgbClr val="0D1B2A"/>
            </a:solidFill>
            <a:prstDash val="solid"/>
          </a:ln>
        </p:spPr>
        <p:txBody>
          <a:bodyPr/>
          <a:lstStyle/>
          <a:p>
            <a:endParaRPr lang="en-US"/>
          </a:p>
        </p:txBody>
      </p:sp>
      <p:sp>
        <p:nvSpPr>
          <p:cNvPr id="36" name="Text 34"/>
          <p:cNvSpPr/>
          <p:nvPr/>
        </p:nvSpPr>
        <p:spPr>
          <a:xfrm>
            <a:off x="2011680" y="4069080"/>
            <a:ext cx="1627632" cy="502920"/>
          </a:xfrm>
          <a:prstGeom prst="rect">
            <a:avLst/>
          </a:prstGeom>
          <a:noFill/>
          <a:ln/>
        </p:spPr>
        <p:txBody>
          <a:bodyPr wrap="square" lIns="0" tIns="0" rIns="0" bIns="0" rtlCol="0" anchor="ctr"/>
          <a:lstStyle/>
          <a:p>
            <a:pPr marL="0" indent="0" algn="ctr">
              <a:buNone/>
            </a:pPr>
            <a:r>
              <a:rPr lang="en-US" sz="950" dirty="0">
                <a:solidFill>
                  <a:srgbClr val="FFFFFF"/>
                </a:solidFill>
                <a:latin typeface="Consolas" pitchFamily="34" charset="0"/>
                <a:ea typeface="Consolas" pitchFamily="34" charset="-122"/>
                <a:cs typeface="Consolas" pitchFamily="34" charset="-120"/>
              </a:rPr>
              <a:t>→  Token creado</a:t>
            </a:r>
            <a:endParaRPr lang="en-US" sz="950" dirty="0"/>
          </a:p>
        </p:txBody>
      </p:sp>
      <p:sp>
        <p:nvSpPr>
          <p:cNvPr id="37" name="Shape 35"/>
          <p:cNvSpPr/>
          <p:nvPr/>
        </p:nvSpPr>
        <p:spPr>
          <a:xfrm>
            <a:off x="3749040" y="4069080"/>
            <a:ext cx="1627632" cy="502920"/>
          </a:xfrm>
          <a:prstGeom prst="rect">
            <a:avLst/>
          </a:prstGeom>
          <a:solidFill>
            <a:srgbClr val="0D1B2A"/>
          </a:solidFill>
          <a:ln w="12700">
            <a:solidFill>
              <a:srgbClr val="0D1B2A"/>
            </a:solidFill>
            <a:prstDash val="solid"/>
          </a:ln>
        </p:spPr>
        <p:txBody>
          <a:bodyPr/>
          <a:lstStyle/>
          <a:p>
            <a:endParaRPr lang="en-US"/>
          </a:p>
        </p:txBody>
      </p:sp>
      <p:sp>
        <p:nvSpPr>
          <p:cNvPr id="38" name="Text 36"/>
          <p:cNvSpPr/>
          <p:nvPr/>
        </p:nvSpPr>
        <p:spPr>
          <a:xfrm>
            <a:off x="3749040" y="4069080"/>
            <a:ext cx="1627632" cy="502920"/>
          </a:xfrm>
          <a:prstGeom prst="rect">
            <a:avLst/>
          </a:prstGeom>
          <a:noFill/>
          <a:ln/>
        </p:spPr>
        <p:txBody>
          <a:bodyPr wrap="square" lIns="0" tIns="0" rIns="0" bIns="0" rtlCol="0" anchor="ctr"/>
          <a:lstStyle/>
          <a:p>
            <a:pPr marL="0" indent="0" algn="ctr">
              <a:buNone/>
            </a:pPr>
            <a:r>
              <a:rPr lang="en-US" sz="950" dirty="0">
                <a:solidFill>
                  <a:srgbClr val="FFFFFF"/>
                </a:solidFill>
                <a:latin typeface="Consolas" pitchFamily="34" charset="0"/>
                <a:ea typeface="Consolas" pitchFamily="34" charset="-122"/>
                <a:cs typeface="Consolas" pitchFamily="34" charset="-120"/>
              </a:rPr>
              <a:t>→  putOnSale()</a:t>
            </a:r>
            <a:endParaRPr lang="en-US" sz="950" dirty="0"/>
          </a:p>
        </p:txBody>
      </p:sp>
      <p:sp>
        <p:nvSpPr>
          <p:cNvPr id="39" name="Shape 37"/>
          <p:cNvSpPr/>
          <p:nvPr/>
        </p:nvSpPr>
        <p:spPr>
          <a:xfrm>
            <a:off x="5486400" y="4069080"/>
            <a:ext cx="1627632" cy="502920"/>
          </a:xfrm>
          <a:prstGeom prst="rect">
            <a:avLst/>
          </a:prstGeom>
          <a:solidFill>
            <a:srgbClr val="0D1B2A"/>
          </a:solidFill>
          <a:ln w="12700">
            <a:solidFill>
              <a:srgbClr val="0D1B2A"/>
            </a:solidFill>
            <a:prstDash val="solid"/>
          </a:ln>
        </p:spPr>
        <p:txBody>
          <a:bodyPr/>
          <a:lstStyle/>
          <a:p>
            <a:endParaRPr lang="en-US"/>
          </a:p>
        </p:txBody>
      </p:sp>
      <p:sp>
        <p:nvSpPr>
          <p:cNvPr id="40" name="Text 38"/>
          <p:cNvSpPr/>
          <p:nvPr/>
        </p:nvSpPr>
        <p:spPr>
          <a:xfrm>
            <a:off x="5486400" y="4069080"/>
            <a:ext cx="1627632" cy="502920"/>
          </a:xfrm>
          <a:prstGeom prst="rect">
            <a:avLst/>
          </a:prstGeom>
          <a:noFill/>
          <a:ln/>
        </p:spPr>
        <p:txBody>
          <a:bodyPr wrap="square" lIns="0" tIns="0" rIns="0" bIns="0" rtlCol="0" anchor="ctr"/>
          <a:lstStyle/>
          <a:p>
            <a:pPr marL="0" indent="0" algn="ctr">
              <a:buNone/>
            </a:pPr>
            <a:r>
              <a:rPr lang="en-US" sz="950" dirty="0">
                <a:solidFill>
                  <a:srgbClr val="FFFFFF"/>
                </a:solidFill>
                <a:latin typeface="Consolas" pitchFamily="34" charset="0"/>
                <a:ea typeface="Consolas" pitchFamily="34" charset="-122"/>
                <a:cs typeface="Consolas" pitchFamily="34" charset="-120"/>
              </a:rPr>
              <a:t>→  buyNFT()</a:t>
            </a:r>
            <a:endParaRPr lang="en-US" sz="950" dirty="0"/>
          </a:p>
        </p:txBody>
      </p:sp>
      <p:sp>
        <p:nvSpPr>
          <p:cNvPr id="41" name="Shape 39"/>
          <p:cNvSpPr/>
          <p:nvPr/>
        </p:nvSpPr>
        <p:spPr>
          <a:xfrm>
            <a:off x="7223760" y="4069080"/>
            <a:ext cx="1627632" cy="502920"/>
          </a:xfrm>
          <a:prstGeom prst="rect">
            <a:avLst/>
          </a:prstGeom>
          <a:solidFill>
            <a:srgbClr val="10B981"/>
          </a:solidFill>
          <a:ln w="12700">
            <a:solidFill>
              <a:srgbClr val="10B981"/>
            </a:solidFill>
            <a:prstDash val="solid"/>
          </a:ln>
        </p:spPr>
        <p:txBody>
          <a:bodyPr/>
          <a:lstStyle/>
          <a:p>
            <a:endParaRPr lang="en-US"/>
          </a:p>
        </p:txBody>
      </p:sp>
      <p:sp>
        <p:nvSpPr>
          <p:cNvPr id="42" name="Text 40"/>
          <p:cNvSpPr/>
          <p:nvPr/>
        </p:nvSpPr>
        <p:spPr>
          <a:xfrm>
            <a:off x="7223760" y="4069080"/>
            <a:ext cx="1627632"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  Nuevo dueño</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Conclusiones y Aprendizajes</a:t>
            </a:r>
            <a:endParaRPr lang="en-US" sz="2800" dirty="0"/>
          </a:p>
        </p:txBody>
      </p:sp>
      <p:sp>
        <p:nvSpPr>
          <p:cNvPr id="3" name="Shape 1"/>
          <p:cNvSpPr/>
          <p:nvPr/>
        </p:nvSpPr>
        <p:spPr>
          <a:xfrm>
            <a:off x="365760" y="896112"/>
            <a:ext cx="1280160" cy="4114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20040" y="1005840"/>
            <a:ext cx="4206240" cy="173736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320040" y="1005840"/>
            <a:ext cx="4206240" cy="292608"/>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411480" y="1033272"/>
            <a:ext cx="3977640" cy="237744"/>
          </a:xfrm>
          <a:prstGeom prst="rect">
            <a:avLst/>
          </a:prstGeom>
          <a:noFill/>
          <a:ln/>
        </p:spPr>
        <p:txBody>
          <a:bodyPr wrap="square" lIns="0" tIns="0" rIns="0" bIns="0" rtlCol="0" anchor="ctr"/>
          <a:lstStyle/>
          <a:p>
            <a:pPr marL="0" indent="0">
              <a:buNone/>
            </a:pPr>
            <a:r>
              <a:rPr lang="en-US" sz="1150" b="1" dirty="0">
                <a:solidFill>
                  <a:srgbClr val="0D1B2A"/>
                </a:solidFill>
                <a:latin typeface="Georgia" pitchFamily="34" charset="0"/>
                <a:ea typeface="Georgia" pitchFamily="34" charset="-122"/>
                <a:cs typeface="Georgia" pitchFamily="34" charset="-120"/>
              </a:rPr>
              <a:t>⛓  Blockchain</a:t>
            </a:r>
            <a:endParaRPr lang="en-US" sz="1150" dirty="0"/>
          </a:p>
        </p:txBody>
      </p:sp>
      <p:sp>
        <p:nvSpPr>
          <p:cNvPr id="7" name="Text 5"/>
          <p:cNvSpPr/>
          <p:nvPr/>
        </p:nvSpPr>
        <p:spPr>
          <a:xfrm>
            <a:off x="411480" y="1353312"/>
            <a:ext cx="3931920" cy="1353312"/>
          </a:xfrm>
          <a:prstGeom prst="rect">
            <a:avLst/>
          </a:prstGeom>
          <a:noFill/>
          <a:ln/>
        </p:spPr>
        <p:txBody>
          <a:bodyPr wrap="square" lIns="50800" tIns="101600" rIns="50800" bIns="5080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Entendemos cómo funciona un registro inmutable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Aprendimos sobre la red Sepolia como entorno de pruebas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Comprendimos el costo del gas en transacciones</a:t>
            </a:r>
            <a:endParaRPr lang="en-US" sz="1100" dirty="0"/>
          </a:p>
        </p:txBody>
      </p:sp>
      <p:sp>
        <p:nvSpPr>
          <p:cNvPr id="8" name="Shape 6"/>
          <p:cNvSpPr/>
          <p:nvPr/>
        </p:nvSpPr>
        <p:spPr>
          <a:xfrm>
            <a:off x="4727448" y="1005840"/>
            <a:ext cx="4206240" cy="173736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9" name="Shape 7"/>
          <p:cNvSpPr/>
          <p:nvPr/>
        </p:nvSpPr>
        <p:spPr>
          <a:xfrm>
            <a:off x="4727448" y="1005840"/>
            <a:ext cx="4206240" cy="292608"/>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4818888" y="1033272"/>
            <a:ext cx="3977640" cy="237744"/>
          </a:xfrm>
          <a:prstGeom prst="rect">
            <a:avLst/>
          </a:prstGeom>
          <a:noFill/>
          <a:ln/>
        </p:spPr>
        <p:txBody>
          <a:bodyPr wrap="square" lIns="0" tIns="0" rIns="0" bIns="0" rtlCol="0" anchor="ctr"/>
          <a:lstStyle/>
          <a:p>
            <a:pPr marL="0" indent="0">
              <a:buNone/>
            </a:pPr>
            <a:r>
              <a:rPr lang="en-US" sz="1150" b="1" dirty="0">
                <a:solidFill>
                  <a:srgbClr val="0D1B2A"/>
                </a:solidFill>
                <a:latin typeface="Georgia" pitchFamily="34" charset="0"/>
                <a:ea typeface="Georgia" pitchFamily="34" charset="-122"/>
                <a:cs typeface="Georgia" pitchFamily="34" charset="-120"/>
              </a:rPr>
              <a:t>🖼  NFTs (ERC-721)</a:t>
            </a:r>
            <a:endParaRPr lang="en-US" sz="1150" dirty="0"/>
          </a:p>
        </p:txBody>
      </p:sp>
      <p:sp>
        <p:nvSpPr>
          <p:cNvPr id="11" name="Text 9"/>
          <p:cNvSpPr/>
          <p:nvPr/>
        </p:nvSpPr>
        <p:spPr>
          <a:xfrm>
            <a:off x="4818888" y="1353312"/>
            <a:ext cx="3931920" cy="1353312"/>
          </a:xfrm>
          <a:prstGeom prst="rect">
            <a:avLst/>
          </a:prstGeom>
          <a:noFill/>
          <a:ln/>
        </p:spPr>
        <p:txBody>
          <a:bodyPr wrap="square" lIns="50800" tIns="101600" rIns="50800" bIns="5080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Un NFT es un token único asociado a un activo digital</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ERC-721 es el estándar que los define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Aprendimos a crear, vender y comprar NFTs</a:t>
            </a:r>
            <a:endParaRPr lang="en-US" sz="1100" dirty="0"/>
          </a:p>
        </p:txBody>
      </p:sp>
      <p:sp>
        <p:nvSpPr>
          <p:cNvPr id="12" name="Shape 10"/>
          <p:cNvSpPr/>
          <p:nvPr/>
        </p:nvSpPr>
        <p:spPr>
          <a:xfrm>
            <a:off x="320040" y="2880360"/>
            <a:ext cx="4206240" cy="173736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1"/>
          <p:cNvSpPr/>
          <p:nvPr/>
        </p:nvSpPr>
        <p:spPr>
          <a:xfrm>
            <a:off x="320040" y="2880360"/>
            <a:ext cx="4206240" cy="292608"/>
          </a:xfrm>
          <a:prstGeom prst="rect">
            <a:avLst/>
          </a:prstGeom>
          <a:solidFill>
            <a:srgbClr val="10B981"/>
          </a:solidFill>
          <a:ln w="12700">
            <a:solidFill>
              <a:srgbClr val="10B981"/>
            </a:solidFill>
            <a:prstDash val="solid"/>
          </a:ln>
        </p:spPr>
        <p:txBody>
          <a:bodyPr/>
          <a:lstStyle/>
          <a:p>
            <a:endParaRPr lang="en-US"/>
          </a:p>
        </p:txBody>
      </p:sp>
      <p:sp>
        <p:nvSpPr>
          <p:cNvPr id="14" name="Text 12"/>
          <p:cNvSpPr/>
          <p:nvPr/>
        </p:nvSpPr>
        <p:spPr>
          <a:xfrm>
            <a:off x="411480" y="2907792"/>
            <a:ext cx="3977640" cy="237744"/>
          </a:xfrm>
          <a:prstGeom prst="rect">
            <a:avLst/>
          </a:prstGeom>
          <a:noFill/>
          <a:ln/>
        </p:spPr>
        <p:txBody>
          <a:bodyPr wrap="square" lIns="0" tIns="0" rIns="0" bIns="0" rtlCol="0" anchor="ctr"/>
          <a:lstStyle/>
          <a:p>
            <a:pPr marL="0" indent="0">
              <a:buNone/>
            </a:pPr>
            <a:r>
              <a:rPr lang="en-US" sz="1150" b="1" dirty="0">
                <a:solidFill>
                  <a:srgbClr val="0D1B2A"/>
                </a:solidFill>
                <a:latin typeface="Georgia" pitchFamily="34" charset="0"/>
                <a:ea typeface="Georgia" pitchFamily="34" charset="-122"/>
                <a:cs typeface="Georgia" pitchFamily="34" charset="-120"/>
              </a:rPr>
              <a:t>🌐  IPFS</a:t>
            </a:r>
            <a:endParaRPr lang="en-US" sz="1150" dirty="0"/>
          </a:p>
        </p:txBody>
      </p:sp>
      <p:sp>
        <p:nvSpPr>
          <p:cNvPr id="15" name="Text 13"/>
          <p:cNvSpPr/>
          <p:nvPr/>
        </p:nvSpPr>
        <p:spPr>
          <a:xfrm>
            <a:off x="411480" y="3227832"/>
            <a:ext cx="3931920" cy="1353312"/>
          </a:xfrm>
          <a:prstGeom prst="rect">
            <a:avLst/>
          </a:prstGeom>
          <a:noFill/>
          <a:ln/>
        </p:spPr>
        <p:txBody>
          <a:bodyPr wrap="square" lIns="50800" tIns="101600" rIns="50800" bIns="5080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Archivos descentralizados con CID como identificador</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Separar el almacenamiento del registro es eficiente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Pinata facilita la subida de archivos a IPFS</a:t>
            </a:r>
            <a:endParaRPr lang="en-US" sz="1100" dirty="0"/>
          </a:p>
        </p:txBody>
      </p:sp>
      <p:sp>
        <p:nvSpPr>
          <p:cNvPr id="16" name="Shape 14"/>
          <p:cNvSpPr/>
          <p:nvPr/>
        </p:nvSpPr>
        <p:spPr>
          <a:xfrm>
            <a:off x="4727448" y="2880360"/>
            <a:ext cx="4206240" cy="1737360"/>
          </a:xfrm>
          <a:prstGeom prst="rect">
            <a:avLst/>
          </a:prstGeom>
          <a:solidFill>
            <a:srgbClr val="132338"/>
          </a:solidFill>
          <a:ln w="15240">
            <a:solidFill>
              <a:srgbClr val="00B4D8"/>
            </a:solidFill>
            <a:prstDash val="solid"/>
          </a:ln>
          <a:effectLst>
            <a:outerShdw blurRad="101600" dist="38100" dir="8100000" algn="bl" rotWithShape="0">
              <a:srgbClr val="000000">
                <a:alpha val="25000"/>
              </a:srgbClr>
            </a:outerShdw>
          </a:effectLst>
        </p:spPr>
        <p:txBody>
          <a:bodyPr/>
          <a:lstStyle/>
          <a:p>
            <a:endParaRPr lang="en-US"/>
          </a:p>
        </p:txBody>
      </p:sp>
      <p:sp>
        <p:nvSpPr>
          <p:cNvPr id="17" name="Shape 15"/>
          <p:cNvSpPr/>
          <p:nvPr/>
        </p:nvSpPr>
        <p:spPr>
          <a:xfrm>
            <a:off x="4727448" y="2880360"/>
            <a:ext cx="4206240" cy="292608"/>
          </a:xfrm>
          <a:prstGeom prst="rect">
            <a:avLst/>
          </a:prstGeom>
          <a:solidFill>
            <a:srgbClr val="E05C5C"/>
          </a:solidFill>
          <a:ln w="12700">
            <a:solidFill>
              <a:srgbClr val="E05C5C"/>
            </a:solidFill>
            <a:prstDash val="solid"/>
          </a:ln>
        </p:spPr>
        <p:txBody>
          <a:bodyPr/>
          <a:lstStyle/>
          <a:p>
            <a:endParaRPr lang="en-US"/>
          </a:p>
        </p:txBody>
      </p:sp>
      <p:sp>
        <p:nvSpPr>
          <p:cNvPr id="18" name="Text 16"/>
          <p:cNvSpPr/>
          <p:nvPr/>
        </p:nvSpPr>
        <p:spPr>
          <a:xfrm>
            <a:off x="4818888" y="2907792"/>
            <a:ext cx="3977640" cy="237744"/>
          </a:xfrm>
          <a:prstGeom prst="rect">
            <a:avLst/>
          </a:prstGeom>
          <a:noFill/>
          <a:ln/>
        </p:spPr>
        <p:txBody>
          <a:bodyPr wrap="square" lIns="0" tIns="0" rIns="0" bIns="0" rtlCol="0" anchor="ctr"/>
          <a:lstStyle/>
          <a:p>
            <a:pPr marL="0" indent="0">
              <a:buNone/>
            </a:pPr>
            <a:r>
              <a:rPr lang="en-US" sz="1150" b="1" dirty="0">
                <a:solidFill>
                  <a:srgbClr val="0D1B2A"/>
                </a:solidFill>
                <a:latin typeface="Georgia" pitchFamily="34" charset="0"/>
                <a:ea typeface="Georgia" pitchFamily="34" charset="-122"/>
                <a:cs typeface="Georgia" pitchFamily="34" charset="-120"/>
              </a:rPr>
              <a:t>📄  Smart Contracts</a:t>
            </a:r>
            <a:endParaRPr lang="en-US" sz="1150" dirty="0"/>
          </a:p>
        </p:txBody>
      </p:sp>
      <p:sp>
        <p:nvSpPr>
          <p:cNvPr id="19" name="Text 17"/>
          <p:cNvSpPr/>
          <p:nvPr/>
        </p:nvSpPr>
        <p:spPr>
          <a:xfrm>
            <a:off x="4818888" y="3227832"/>
            <a:ext cx="3931920" cy="1353312"/>
          </a:xfrm>
          <a:prstGeom prst="rect">
            <a:avLst/>
          </a:prstGeom>
          <a:noFill/>
          <a:ln/>
        </p:spPr>
        <p:txBody>
          <a:bodyPr wrap="square" lIns="50800" tIns="101600" rIns="50800" bIns="5080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Solidity permite programar lógica en la blockchain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Remix IDE y MetaMask son herramientas clave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Un contrato publicado no puede modificarse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B4D8"/>
          </a:solidFill>
          <a:ln w="12700">
            <a:solidFill>
              <a:srgbClr val="00B4D8"/>
            </a:solidFill>
            <a:prstDash val="solid"/>
          </a:ln>
        </p:spPr>
        <p:txBody>
          <a:bodyPr/>
          <a:lstStyle/>
          <a:p>
            <a:endParaRPr lang="en-US"/>
          </a:p>
        </p:txBody>
      </p:sp>
      <p:sp>
        <p:nvSpPr>
          <p:cNvPr id="3" name="Shape 1"/>
          <p:cNvSpPr/>
          <p:nvPr/>
        </p:nvSpPr>
        <p:spPr>
          <a:xfrm>
            <a:off x="8942832" y="0"/>
            <a:ext cx="201168" cy="5143500"/>
          </a:xfrm>
          <a:prstGeom prst="rect">
            <a:avLst/>
          </a:prstGeom>
          <a:solidFill>
            <a:srgbClr val="00B4D8"/>
          </a:solidFill>
          <a:ln w="12700">
            <a:solidFill>
              <a:srgbClr val="00B4D8"/>
            </a:solidFill>
            <a:prstDash val="solid"/>
          </a:ln>
        </p:spPr>
        <p:txBody>
          <a:bodyPr/>
          <a:lstStyle/>
          <a:p>
            <a:endParaRPr lang="en-US"/>
          </a:p>
        </p:txBody>
      </p:sp>
      <p:sp>
        <p:nvSpPr>
          <p:cNvPr id="4" name="Text 2"/>
          <p:cNvSpPr/>
          <p:nvPr/>
        </p:nvSpPr>
        <p:spPr>
          <a:xfrm>
            <a:off x="3200400" y="274320"/>
            <a:ext cx="2743200" cy="2011680"/>
          </a:xfrm>
          <a:prstGeom prst="rect">
            <a:avLst/>
          </a:prstGeom>
          <a:noFill/>
          <a:ln/>
        </p:spPr>
        <p:txBody>
          <a:bodyPr wrap="square" lIns="0" tIns="0" rIns="0" bIns="0" rtlCol="0" anchor="ctr"/>
          <a:lstStyle/>
          <a:p>
            <a:pPr marL="0" indent="0" algn="ctr">
              <a:buNone/>
            </a:pPr>
            <a:r>
              <a:rPr lang="en-US" sz="11000" dirty="0">
                <a:solidFill>
                  <a:srgbClr val="1A3050"/>
                </a:solidFill>
              </a:rPr>
              <a:t>♟</a:t>
            </a:r>
            <a:endParaRPr lang="en-US" sz="11000" dirty="0"/>
          </a:p>
        </p:txBody>
      </p:sp>
      <p:sp>
        <p:nvSpPr>
          <p:cNvPr id="5" name="Text 3"/>
          <p:cNvSpPr/>
          <p:nvPr/>
        </p:nvSpPr>
        <p:spPr>
          <a:xfrm>
            <a:off x="457200" y="2331720"/>
            <a:ext cx="82296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¡Gracias!</a:t>
            </a:r>
            <a:endParaRPr lang="en-US" sz="5200" dirty="0"/>
          </a:p>
        </p:txBody>
      </p:sp>
      <p:sp>
        <p:nvSpPr>
          <p:cNvPr id="6" name="Text 4"/>
          <p:cNvSpPr/>
          <p:nvPr/>
        </p:nvSpPr>
        <p:spPr>
          <a:xfrm>
            <a:off x="457200" y="3291840"/>
            <a:ext cx="8229600" cy="457200"/>
          </a:xfrm>
          <a:prstGeom prst="rect">
            <a:avLst/>
          </a:prstGeom>
          <a:noFill/>
          <a:ln/>
        </p:spPr>
        <p:txBody>
          <a:bodyPr wrap="square" lIns="0" tIns="0" rIns="0" bIns="0" rtlCol="0" anchor="ctr"/>
          <a:lstStyle/>
          <a:p>
            <a:pPr marL="0" indent="0" algn="ctr">
              <a:buNone/>
            </a:pPr>
            <a:r>
              <a:rPr lang="en-US" sz="1600" dirty="0">
                <a:solidFill>
                  <a:srgbClr val="00B4D8"/>
                </a:solidFill>
                <a:latin typeface="Calibri" pitchFamily="34" charset="0"/>
                <a:ea typeface="Calibri" pitchFamily="34" charset="-122"/>
                <a:cs typeface="Calibri" pitchFamily="34" charset="-120"/>
              </a:rPr>
              <a:t>ChessNFT — Proyecto Blockchain Universitario</a:t>
            </a:r>
            <a:endParaRPr lang="en-US" sz="1600" dirty="0"/>
          </a:p>
        </p:txBody>
      </p:sp>
      <p:sp>
        <p:nvSpPr>
          <p:cNvPr id="7" name="Text 5"/>
          <p:cNvSpPr/>
          <p:nvPr/>
        </p:nvSpPr>
        <p:spPr>
          <a:xfrm>
            <a:off x="457200" y="3840480"/>
            <a:ext cx="8229600" cy="365760"/>
          </a:xfrm>
          <a:prstGeom prst="rect">
            <a:avLst/>
          </a:prstGeom>
          <a:noFill/>
          <a:ln/>
        </p:spPr>
        <p:txBody>
          <a:bodyPr wrap="square" lIns="0" tIns="0" rIns="0" bIns="0"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Preguntas y comentarios son bienvenidos</a:t>
            </a:r>
            <a:endParaRPr lang="en-US" sz="1300" dirty="0"/>
          </a:p>
        </p:txBody>
      </p:sp>
      <p:sp>
        <p:nvSpPr>
          <p:cNvPr id="8" name="Text 6"/>
          <p:cNvSpPr/>
          <p:nvPr/>
        </p:nvSpPr>
        <p:spPr>
          <a:xfrm>
            <a:off x="457200" y="4480560"/>
            <a:ext cx="8229600" cy="32004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Tecnologías: Solidity · ERC-721 · IPFS · Remix IDE · MetaMask · Sepolia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2366</Words>
  <Application>Microsoft Office PowerPoint</Application>
  <PresentationFormat>On-screen Show (16:9)</PresentationFormat>
  <Paragraphs>275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ChessNFT - Proyecto Blockchain</dc:title>
  <dc:subject>PptxGenJS Presentation</dc:subject>
  <dc:creator>PptxGenJS</dc:creator>
  <cp:lastModifiedBy>Katheryn Sofia Guasca Chavarro</cp:lastModifiedBy>
  <cp:revision>2</cp:revision>
  <dcterms:created xsi:type="dcterms:W3CDTF">2026-06-05T22:17:08Z</dcterms:created>
  <dcterms:modified xsi:type="dcterms:W3CDTF">2026-06-05T22:28:02Z</dcterms:modified>
</cp:coreProperties>
</file>